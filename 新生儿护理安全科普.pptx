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00000" y="-800000"/>
            <a:ext cx="3200000" cy="3200000"/>
          </a:xfrm>
          <a:prstGeom prst="ellipse">
            <a:avLst/>
          </a:prstGeom>
          <a:solidFill>
            <a:srgbClr val="FFE0E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00000" y="4200000"/>
            <a:ext cx="3000000" cy="3000000"/>
          </a:xfrm>
          <a:prstGeom prst="ellipse">
            <a:avLst/>
          </a:prstGeom>
          <a:solidFill>
            <a:srgbClr val="DBECFF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00000" y="-1000000"/>
            <a:ext cx="2200000" cy="2200000"/>
          </a:xfrm>
          <a:prstGeom prst="ellipse">
            <a:avLst/>
          </a:prstGeom>
          <a:solidFill>
            <a:srgbClr val="E8F5E9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00000" y="5200000"/>
            <a:ext cx="1800000" cy="1800000"/>
          </a:xfrm>
          <a:prstGeom prst="ellipse">
            <a:avLst/>
          </a:prstGeom>
          <a:solidFill>
            <a:srgbClr val="FDE2CA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00000" y="-600000"/>
            <a:ext cx="1200000" cy="1200000"/>
          </a:xfrm>
          <a:prstGeom prst="ellipse">
            <a:avLst/>
          </a:prstGeom>
          <a:solidFill>
            <a:srgbClr val="F3E5F5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00000" y="1200000"/>
            <a:ext cx="200000" cy="200000"/>
          </a:xfrm>
          <a:prstGeom prst="ellipse">
            <a:avLst/>
          </a:prstGeom>
          <a:solidFill>
            <a:srgbClr val="F48FB1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00000" y="1800000"/>
            <a:ext cx="200000" cy="200000"/>
          </a:xfrm>
          <a:prstGeom prst="ellipse">
            <a:avLst/>
          </a:prstGeom>
          <a:solidFill>
            <a:srgbClr val="F48FB1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00000" y="5800000"/>
            <a:ext cx="200000" cy="200000"/>
          </a:xfrm>
          <a:prstGeom prst="ellipse">
            <a:avLst/>
          </a:prstGeom>
          <a:solidFill>
            <a:srgbClr val="F48FB1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00000" y="5200000"/>
            <a:ext cx="200000" cy="200000"/>
          </a:xfrm>
          <a:prstGeom prst="ellipse">
            <a:avLst/>
          </a:prstGeom>
          <a:solidFill>
            <a:srgbClr val="F48FB1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00000" y="1200000"/>
            <a:ext cx="8200000" cy="44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4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00000" y="1200000"/>
            <a:ext cx="8200000" cy="120000"/>
          </a:xfrm>
          <a:prstGeom prst="roundRect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0000" y="1800000"/>
            <a:ext cx="7000000" cy="7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400" b="0">
                <a:solidFill>
                  <a:srgbClr val="F48FB1"/>
                </a:solidFill>
                <a:latin typeface="微软雅黑"/>
                <a:ea typeface="微软雅黑"/>
              </a:rPr>
              <a:t>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0000" y="2500000"/>
            <a:ext cx="7000000" cy="7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3C3C4C"/>
                </a:solidFill>
                <a:latin typeface="微软雅黑"/>
                <a:ea typeface="微软雅黑"/>
              </a:rPr>
              <a:t>新生儿护理安全科普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0000" y="3200000"/>
            <a:ext cx="7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0">
                <a:solidFill>
                  <a:srgbClr val="E06F95"/>
                </a:solidFill>
                <a:latin typeface="微软雅黑"/>
                <a:ea typeface="微软雅黑"/>
              </a:rPr>
              <a:t>Neonatal Care Safety Education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00000" y="3700000"/>
            <a:ext cx="2600000" cy="25000"/>
          </a:xfrm>
          <a:prstGeom prst="rect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0000" y="3900000"/>
            <a:ext cx="7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>
                <a:solidFill>
                  <a:srgbClr val="666678"/>
                </a:solidFill>
                <a:latin typeface="微软雅黑"/>
                <a:ea typeface="微软雅黑"/>
              </a:rPr>
              <a:t>新生儿科  ·  护理安全知识宣教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0000" y="4400000"/>
            <a:ext cx="7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>
                <a:solidFill>
                  <a:srgbClr val="F48FB1"/>
                </a:solidFill>
                <a:latin typeface="微软雅黑"/>
                <a:ea typeface="微软雅黑"/>
              </a:rPr>
              <a:t>呵护每一个新生命，用爱守护安全成长 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0000" y="6200000"/>
            <a:ext cx="2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F48FB1"/>
                </a:solidFill>
                <a:latin typeface="微软雅黑"/>
                <a:ea typeface="微软雅黑"/>
              </a:rPr>
              <a:t>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00000" y="6200000"/>
            <a:ext cx="2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2000" b="0">
                <a:solidFill>
                  <a:srgbClr val="7EBCE6"/>
                </a:solidFill>
                <a:latin typeface="微软雅黑"/>
                <a:ea typeface="微软雅黑"/>
              </a:rPr>
              <a:t>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00" y="-400000"/>
            <a:ext cx="1800000" cy="1800000"/>
          </a:xfrm>
          <a:prstGeom prst="ellipse">
            <a:avLst/>
          </a:prstGeom>
          <a:solidFill>
            <a:srgbClr val="7EBCE6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200000" y="200000"/>
            <a:ext cx="1200000" cy="1200000"/>
          </a:xfrm>
          <a:prstGeom prst="ellipse">
            <a:avLst/>
          </a:prstGeom>
          <a:solidFill>
            <a:srgbClr val="7EC8A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500000" y="5800000"/>
            <a:ext cx="1500000" cy="1500000"/>
          </a:xfrm>
          <a:prstGeom prst="ellipse">
            <a:avLst/>
          </a:prstGeom>
          <a:solidFill>
            <a:srgbClr val="7EC8A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0000" y="6200000"/>
            <a:ext cx="900000" cy="900000"/>
          </a:xfrm>
          <a:prstGeom prst="ellipse">
            <a:avLst/>
          </a:prstGeom>
          <a:solidFill>
            <a:srgbClr val="7EBCE6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000" y="250000"/>
            <a:ext cx="6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3C3C4C"/>
                </a:solidFill>
                <a:latin typeface="微软雅黑"/>
                <a:ea typeface="微软雅黑"/>
              </a:rPr>
              <a:t>📋  目录  Contents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750000"/>
            <a:ext cx="2000000" cy="30000"/>
          </a:xfrm>
          <a:prstGeom prst="rect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0000" y="1100000"/>
            <a:ext cx="5400000" cy="1400000"/>
          </a:xfrm>
          <a:prstGeom prst="roundRect">
            <a:avLst>
              <a:gd name="adj" fmla="val 5000"/>
            </a:avLst>
          </a:prstGeom>
          <a:solidFill>
            <a:srgbClr val="F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0000" y="1500000"/>
            <a:ext cx="600000" cy="600000"/>
          </a:xfrm>
          <a:prstGeom prst="ellipse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0000" y="1400000"/>
            <a:ext cx="4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3C3C4C"/>
                </a:solidFill>
                <a:latin typeface="微软雅黑"/>
                <a:ea typeface="微软雅黑"/>
              </a:rPr>
              <a:t>什么是新生儿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0000" y="1850000"/>
            <a:ext cx="4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666678"/>
                </a:solidFill>
                <a:latin typeface="微软雅黑"/>
                <a:ea typeface="微软雅黑"/>
              </a:rPr>
              <a:t>新生儿的定义、分期与分类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0" y="1100000"/>
            <a:ext cx="5400000" cy="1400000"/>
          </a:xfrm>
          <a:prstGeom prst="roundRect">
            <a:avLst>
              <a:gd name="adj" fmla="val 5000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0000" y="1500000"/>
            <a:ext cx="600000" cy="600000"/>
          </a:xfrm>
          <a:prstGeom prst="ellipse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00000" y="1400000"/>
            <a:ext cx="4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3C3C4C"/>
                </a:solidFill>
                <a:latin typeface="微软雅黑"/>
                <a:ea typeface="微软雅黑"/>
              </a:rPr>
              <a:t>新生儿科病房介绍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000" y="1850000"/>
            <a:ext cx="4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666678"/>
                </a:solidFill>
                <a:latin typeface="微软雅黑"/>
                <a:ea typeface="微软雅黑"/>
              </a:rPr>
              <a:t>病房环境、设备及管理制度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000" y="2700000"/>
            <a:ext cx="5400000" cy="140000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0000" y="3100000"/>
            <a:ext cx="600000" cy="600000"/>
          </a:xfrm>
          <a:prstGeom prst="ellipse">
            <a:avLst/>
          </a:prstGeom>
          <a:solidFill>
            <a:srgbClr val="E8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0000" y="3000000"/>
            <a:ext cx="4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3C3C4C"/>
                </a:solidFill>
                <a:latin typeface="微软雅黑"/>
                <a:ea typeface="微软雅黑"/>
              </a:rPr>
              <a:t>新生儿患者十大安全目标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0000" y="3450000"/>
            <a:ext cx="4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666678"/>
                </a:solidFill>
                <a:latin typeface="微软雅黑"/>
                <a:ea typeface="微软雅黑"/>
              </a:rPr>
              <a:t>中国医院协会2025版详细解读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0000" y="2700000"/>
            <a:ext cx="5400000" cy="1400000"/>
          </a:xfrm>
          <a:prstGeom prst="roundRect">
            <a:avLst>
              <a:gd name="adj" fmla="val 5000"/>
            </a:avLst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50000" y="3100000"/>
            <a:ext cx="600000" cy="600000"/>
          </a:xfrm>
          <a:prstGeom prst="ellipse">
            <a:avLst/>
          </a:prstGeom>
          <a:solidFill>
            <a:srgbClr val="7E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0000" y="3000000"/>
            <a:ext cx="4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3C3C4C"/>
                </a:solidFill>
                <a:latin typeface="微软雅黑"/>
                <a:ea typeface="微软雅黑"/>
              </a:rPr>
              <a:t>新生儿日常护理安全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0000" y="3450000"/>
            <a:ext cx="4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666678"/>
                </a:solidFill>
                <a:latin typeface="微软雅黑"/>
                <a:ea typeface="微软雅黑"/>
              </a:rPr>
              <a:t>喂养、保暖、脐带与皮肤护理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00" y="4300000"/>
            <a:ext cx="5400000" cy="1400000"/>
          </a:xfrm>
          <a:prstGeom prst="roundRect">
            <a:avLst>
              <a:gd name="adj" fmla="val 5000"/>
            </a:avLst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50000" y="4700000"/>
            <a:ext cx="600000" cy="600000"/>
          </a:xfrm>
          <a:prstGeom prst="ellipse">
            <a:avLst/>
          </a:prstGeom>
          <a:solidFill>
            <a:srgbClr val="B8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0000" y="4600000"/>
            <a:ext cx="4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3C3C4C"/>
                </a:solidFill>
                <a:latin typeface="微软雅黑"/>
                <a:ea typeface="微软雅黑"/>
              </a:rPr>
              <a:t>安全防护与预防要点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00000" y="5050000"/>
            <a:ext cx="4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666678"/>
                </a:solidFill>
                <a:latin typeface="微软雅黑"/>
                <a:ea typeface="微软雅黑"/>
              </a:rPr>
              <a:t>身份识别、防跌落、防窒息与感染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0000" y="4300000"/>
            <a:ext cx="5400000" cy="1400000"/>
          </a:xfrm>
          <a:prstGeom prst="roundRect">
            <a:avLst>
              <a:gd name="adj" fmla="val 5000"/>
            </a:avLst>
          </a:prstGeom>
          <a:solidFill>
            <a:srgbClr val="FF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50000" y="4700000"/>
            <a:ext cx="600000" cy="600000"/>
          </a:xfrm>
          <a:prstGeom prst="ellipse">
            <a:avLst/>
          </a:prstGeom>
          <a:solidFill>
            <a:srgbClr val="F5B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0000" y="4600000"/>
            <a:ext cx="4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3C3C4C"/>
                </a:solidFill>
                <a:latin typeface="微软雅黑"/>
                <a:ea typeface="微软雅黑"/>
              </a:rPr>
              <a:t>疾病筛查与总结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0000" y="5050000"/>
            <a:ext cx="4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666678"/>
                </a:solidFill>
                <a:latin typeface="微软雅黑"/>
                <a:ea typeface="微软雅黑"/>
              </a:rPr>
              <a:t>新生儿筛查、预防接种及温馨提示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00000" y="6500000"/>
            <a:ext cx="1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666678"/>
                </a:solidFill>
                <a:latin typeface="微软雅黑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00" y="-400000"/>
            <a:ext cx="1800000" cy="1800000"/>
          </a:xfrm>
          <a:prstGeom prst="ellipse">
            <a:avLst/>
          </a:prstGeom>
          <a:solidFill>
            <a:srgbClr val="FFD6E7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200000" y="200000"/>
            <a:ext cx="1200000" cy="1200000"/>
          </a:xfrm>
          <a:prstGeom prst="ellipse">
            <a:avLst/>
          </a:prstGeom>
          <a:solidFill>
            <a:srgbClr val="FFE8F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500000" y="5800000"/>
            <a:ext cx="1500000" cy="1500000"/>
          </a:xfrm>
          <a:prstGeom prst="ellipse">
            <a:avLst/>
          </a:prstGeom>
          <a:solidFill>
            <a:srgbClr val="FFE8F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0000" y="6200000"/>
            <a:ext cx="900000" cy="900000"/>
          </a:xfrm>
          <a:prstGeom prst="ellipse">
            <a:avLst/>
          </a:prstGeom>
          <a:solidFill>
            <a:srgbClr val="FFD6E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000" y="250000"/>
            <a:ext cx="8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3C3C4C"/>
                </a:solidFill>
                <a:latin typeface="微软雅黑"/>
                <a:ea typeface="微软雅黑"/>
              </a:rPr>
              <a:t>👶  什么是新生儿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750000"/>
            <a:ext cx="2000000" cy="30000"/>
          </a:xfrm>
          <a:prstGeom prst="rect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0000" y="1050000"/>
            <a:ext cx="5200000" cy="23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0000" y="1100000"/>
            <a:ext cx="4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E06F95"/>
                </a:solidFill>
                <a:latin typeface="微软雅黑"/>
                <a:ea typeface="微软雅黑"/>
              </a:rPr>
              <a:t>📖  新生儿定义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000" y="1500000"/>
            <a:ext cx="4800000" cy="1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200">
                <a:solidFill>
                  <a:srgbClr val="666678"/>
                </a:solidFill>
                <a:latin typeface="微软雅黑"/>
                <a:ea typeface="微软雅黑"/>
              </a:rPr>
              <a:t>新生儿是指从脐带结扎到出生后28天内的婴儿。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200">
                <a:solidFill>
                  <a:srgbClr val="666678"/>
                </a:solidFill>
                <a:latin typeface="微软雅黑"/>
                <a:ea typeface="微软雅黑"/>
              </a:rPr>
              <a:t>这一时期是人一生中最脆弱的阶段，各器官系统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200">
                <a:solidFill>
                  <a:srgbClr val="666678"/>
                </a:solidFill>
                <a:latin typeface="微软雅黑"/>
                <a:ea typeface="微软雅黑"/>
              </a:rPr>
              <a:t>发育尚不完善，免疫力低下，容易受到外界环境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200">
                <a:solidFill>
                  <a:srgbClr val="666678"/>
                </a:solidFill>
                <a:latin typeface="微软雅黑"/>
                <a:ea typeface="微软雅黑"/>
              </a:rPr>
              <a:t>的影响，需要精心的护理和密切的观察。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0000" y="1050000"/>
            <a:ext cx="5900000" cy="2300000"/>
          </a:xfrm>
          <a:prstGeom prst="roundRect">
            <a:avLst>
              <a:gd name="adj" fmla="val 5000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0000" y="110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4A90D9"/>
                </a:solidFill>
                <a:latin typeface="微软雅黑"/>
                <a:ea typeface="微软雅黑"/>
              </a:rPr>
              <a:t>📊  新生儿分期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000" y="1500000"/>
            <a:ext cx="5500000" cy="9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200">
                <a:solidFill>
                  <a:srgbClr val="3C3C4C"/>
                </a:solidFill>
                <a:latin typeface="微软雅黑"/>
                <a:ea typeface="微软雅黑"/>
              </a:rPr>
              <a:t>🔹 早期新生儿：出生后 1～7 天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200">
                <a:solidFill>
                  <a:srgbClr val="3C3C4C"/>
                </a:solidFill>
                <a:latin typeface="微软雅黑"/>
                <a:ea typeface="微软雅黑"/>
              </a:rPr>
              <a:t>     是新生儿死亡高峰期，需密切观察和精心护理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000" y="2200000"/>
            <a:ext cx="5500000" cy="9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200">
                <a:solidFill>
                  <a:srgbClr val="3C3C4C"/>
                </a:solidFill>
                <a:latin typeface="微软雅黑"/>
                <a:ea typeface="微软雅黑"/>
              </a:rPr>
              <a:t>🔹 晚期新生儿：出生后 8～28 天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200">
                <a:solidFill>
                  <a:srgbClr val="3C3C4C"/>
                </a:solidFill>
                <a:latin typeface="微软雅黑"/>
                <a:ea typeface="微软雅黑"/>
              </a:rPr>
              <a:t>     逐渐适应外界环境，仍需关注喂养与健康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0000" y="3550000"/>
            <a:ext cx="11300000" cy="30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000" y="3600000"/>
            <a:ext cx="10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E06F95"/>
                </a:solidFill>
                <a:latin typeface="微软雅黑"/>
                <a:ea typeface="微软雅黑"/>
              </a:rPr>
              <a:t>🏥  特殊新生儿分类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0000" y="4100000"/>
            <a:ext cx="2000000" cy="22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48F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0000" y="4100000"/>
            <a:ext cx="2000000" cy="60000"/>
          </a:xfrm>
          <a:prstGeom prst="roundRect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000" y="4250000"/>
            <a:ext cx="18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F48FB1"/>
                </a:solidFill>
                <a:latin typeface="微软雅黑"/>
                <a:ea typeface="微软雅黑"/>
              </a:rPr>
              <a:t>早产儿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000" y="4650000"/>
            <a:ext cx="1800000" cy="8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胎龄&lt;37周出生
需特殊保暖和营养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00000" y="4100000"/>
            <a:ext cx="2000000" cy="22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EB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00000" y="4100000"/>
            <a:ext cx="2000000" cy="60000"/>
          </a:xfrm>
          <a:prstGeom prst="roundRect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00000" y="4250000"/>
            <a:ext cx="18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7EBCE6"/>
                </a:solidFill>
                <a:latin typeface="微软雅黑"/>
                <a:ea typeface="微软雅黑"/>
              </a:rPr>
              <a:t>足月儿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00000" y="4650000"/>
            <a:ext cx="1800000" cy="8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胎龄37~42周
发育相对成熟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00000" y="4100000"/>
            <a:ext cx="2000000" cy="22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E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00000" y="4100000"/>
            <a:ext cx="2000000" cy="60000"/>
          </a:xfrm>
          <a:prstGeom prst="roundRect">
            <a:avLst/>
          </a:prstGeom>
          <a:solidFill>
            <a:srgbClr val="7E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00000" y="4250000"/>
            <a:ext cx="18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7EC8A0"/>
                </a:solidFill>
                <a:latin typeface="微软雅黑"/>
                <a:ea typeface="微软雅黑"/>
              </a:rPr>
              <a:t>过期产儿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00000" y="4650000"/>
            <a:ext cx="1800000" cy="8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胎龄&gt;42周
可能存在胎盘老化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00000" y="4100000"/>
            <a:ext cx="2000000" cy="22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8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00000" y="4100000"/>
            <a:ext cx="2000000" cy="60000"/>
          </a:xfrm>
          <a:prstGeom prst="roundRect">
            <a:avLst/>
          </a:prstGeom>
          <a:solidFill>
            <a:srgbClr val="B8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00000" y="4250000"/>
            <a:ext cx="18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B89BD5"/>
                </a:solidFill>
                <a:latin typeface="微软雅黑"/>
                <a:ea typeface="微软雅黑"/>
              </a:rPr>
              <a:t>低体重儿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00000" y="4650000"/>
            <a:ext cx="1800000" cy="8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出生体重&lt;2500g
需加强喂养管理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00000" y="4100000"/>
            <a:ext cx="2000000" cy="22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5B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00000" y="4100000"/>
            <a:ext cx="2000000" cy="60000"/>
          </a:xfrm>
          <a:prstGeom prst="roundRect">
            <a:avLst/>
          </a:prstGeom>
          <a:solidFill>
            <a:srgbClr val="F5B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0000" y="4250000"/>
            <a:ext cx="18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F5B07A"/>
                </a:solidFill>
                <a:latin typeface="微软雅黑"/>
                <a:ea typeface="微软雅黑"/>
              </a:rPr>
              <a:t>巨大儿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0000" y="4650000"/>
            <a:ext cx="1800000" cy="8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出生体重≥4000g
需监测血糖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00000" y="6500000"/>
            <a:ext cx="1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666678"/>
                </a:solidFill>
                <a:latin typeface="微软雅黑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00" y="-400000"/>
            <a:ext cx="1800000" cy="1800000"/>
          </a:xfrm>
          <a:prstGeom prst="ellipse">
            <a:avLst/>
          </a:prstGeom>
          <a:solidFill>
            <a:srgbClr val="C5E1F5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200000" y="200000"/>
            <a:ext cx="1200000" cy="1200000"/>
          </a:xfrm>
          <a:prstGeom prst="ellipse">
            <a:avLst/>
          </a:prstGeom>
          <a:solidFill>
            <a:srgbClr val="E0EEFA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500000" y="5800000"/>
            <a:ext cx="1500000" cy="1500000"/>
          </a:xfrm>
          <a:prstGeom prst="ellipse">
            <a:avLst/>
          </a:prstGeom>
          <a:solidFill>
            <a:srgbClr val="E0EEFA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0000" y="6200000"/>
            <a:ext cx="900000" cy="900000"/>
          </a:xfrm>
          <a:prstGeom prst="ellipse">
            <a:avLst/>
          </a:prstGeom>
          <a:solidFill>
            <a:srgbClr val="C5E1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000" y="250000"/>
            <a:ext cx="8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3C3C4C"/>
                </a:solidFill>
                <a:latin typeface="微软雅黑"/>
                <a:ea typeface="微软雅黑"/>
              </a:rPr>
              <a:t>🏥  新生儿科病房介绍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750000"/>
            <a:ext cx="2000000" cy="30000"/>
          </a:xfrm>
          <a:prstGeom prst="rect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0000" y="1050000"/>
            <a:ext cx="5600000" cy="55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0000" y="1100000"/>
            <a:ext cx="5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4A90D9"/>
                </a:solidFill>
                <a:latin typeface="微软雅黑"/>
                <a:ea typeface="微软雅黑"/>
              </a:rPr>
              <a:t>🌡️  病房环境要求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000" y="1550000"/>
            <a:ext cx="50000" cy="450000"/>
          </a:xfrm>
          <a:prstGeom prst="rect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0000" y="1530000"/>
            <a:ext cx="5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4A90D9"/>
                </a:solidFill>
                <a:latin typeface="微软雅黑"/>
                <a:ea typeface="微软雅黑"/>
              </a:rPr>
              <a:t>🌡  温度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000" y="1770000"/>
            <a:ext cx="50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室温保持 22～28°C，早产儿病房 24～28°C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0000" y="2230000"/>
            <a:ext cx="50000" cy="450000"/>
          </a:xfrm>
          <a:prstGeom prst="rect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0000" y="2210000"/>
            <a:ext cx="5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4A90D9"/>
                </a:solidFill>
                <a:latin typeface="微软雅黑"/>
                <a:ea typeface="微软雅黑"/>
              </a:rPr>
              <a:t>💧  湿度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000" y="2450000"/>
            <a:ext cx="50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相对湿度 50%～60%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0000" y="2910000"/>
            <a:ext cx="50000" cy="450000"/>
          </a:xfrm>
          <a:prstGeom prst="rect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0000" y="2890000"/>
            <a:ext cx="5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4A90D9"/>
                </a:solidFill>
                <a:latin typeface="微软雅黑"/>
                <a:ea typeface="微软雅黑"/>
              </a:rPr>
              <a:t>💡  照明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000" y="3130000"/>
            <a:ext cx="50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柔和灯光，避免强光直射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0000" y="3590000"/>
            <a:ext cx="50000" cy="450000"/>
          </a:xfrm>
          <a:prstGeom prst="rect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0000" y="3570000"/>
            <a:ext cx="5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4A90D9"/>
                </a:solidFill>
                <a:latin typeface="微软雅黑"/>
                <a:ea typeface="微软雅黑"/>
              </a:rPr>
              <a:t>🔇  噪声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0000" y="3810000"/>
            <a:ext cx="50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控制在 45 分贝以下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0000" y="4270000"/>
            <a:ext cx="50000" cy="450000"/>
          </a:xfrm>
          <a:prstGeom prst="rect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0000" y="4250000"/>
            <a:ext cx="5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4A90D9"/>
                </a:solidFill>
                <a:latin typeface="微软雅黑"/>
                <a:ea typeface="微软雅黑"/>
              </a:rPr>
              <a:t>🌬  空气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0000" y="4490000"/>
            <a:ext cx="50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配备 HEPA 高效过滤器，每日通风 2～3 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0000" y="4950000"/>
            <a:ext cx="50000" cy="450000"/>
          </a:xfrm>
          <a:prstGeom prst="rect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000" y="4930000"/>
            <a:ext cx="5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4A90D9"/>
                </a:solidFill>
                <a:latin typeface="微软雅黑"/>
                <a:ea typeface="微软雅黑"/>
              </a:rPr>
              <a:t>🧹  清洁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0000" y="5170000"/>
            <a:ext cx="50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每日全面消毒，湿式清扫，垃圾日产日清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0000" y="5630000"/>
            <a:ext cx="50000" cy="450000"/>
          </a:xfrm>
          <a:prstGeom prst="rect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0000" y="5610000"/>
            <a:ext cx="5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4A90D9"/>
                </a:solidFill>
                <a:latin typeface="微软雅黑"/>
                <a:ea typeface="微软雅黑"/>
              </a:rPr>
              <a:t>🚪  出入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0000" y="5850000"/>
            <a:ext cx="50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严格管控人员进出，探视需更换隔离衣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0000" y="1050000"/>
            <a:ext cx="5500000" cy="55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000" y="1100000"/>
            <a:ext cx="51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4A90D9"/>
                </a:solidFill>
                <a:latin typeface="微软雅黑"/>
                <a:ea typeface="微软雅黑"/>
              </a:rPr>
              <a:t>⚙️  主要医疗设备</a:t>
            </a:r>
          </a:p>
        </p:txBody>
      </p:sp>
      <p:sp>
        <p:nvSpPr>
          <p:cNvPr id="34" name="Oval 33"/>
          <p:cNvSpPr/>
          <p:nvPr/>
        </p:nvSpPr>
        <p:spPr>
          <a:xfrm>
            <a:off x="6400000" y="1630000"/>
            <a:ext cx="120000" cy="120000"/>
          </a:xfrm>
          <a:prstGeom prst="ellipse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0000" y="1550000"/>
            <a:ext cx="48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3C3C4C"/>
                </a:solidFill>
                <a:latin typeface="微软雅黑"/>
                <a:ea typeface="微软雅黑"/>
              </a:rPr>
              <a:t>婴儿暖箱 / 辐射保温台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0000" y="1810000"/>
            <a:ext cx="48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维持新生儿体温恒定</a:t>
            </a:r>
          </a:p>
        </p:txBody>
      </p:sp>
      <p:sp>
        <p:nvSpPr>
          <p:cNvPr id="37" name="Oval 36"/>
          <p:cNvSpPr/>
          <p:nvPr/>
        </p:nvSpPr>
        <p:spPr>
          <a:xfrm>
            <a:off x="6400000" y="2310000"/>
            <a:ext cx="120000" cy="120000"/>
          </a:xfrm>
          <a:prstGeom prst="ellipse">
            <a:avLst/>
          </a:prstGeom>
          <a:solidFill>
            <a:srgbClr val="FDD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0000" y="2230000"/>
            <a:ext cx="48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3C3C4C"/>
                </a:solidFill>
                <a:latin typeface="微软雅黑"/>
                <a:ea typeface="微软雅黑"/>
              </a:rPr>
              <a:t>蓝光治疗仪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00000" y="2490000"/>
            <a:ext cx="48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治疗新生儿黄疸</a:t>
            </a:r>
          </a:p>
        </p:txBody>
      </p:sp>
      <p:sp>
        <p:nvSpPr>
          <p:cNvPr id="40" name="Oval 39"/>
          <p:cNvSpPr/>
          <p:nvPr/>
        </p:nvSpPr>
        <p:spPr>
          <a:xfrm>
            <a:off x="6400000" y="2990000"/>
            <a:ext cx="120000" cy="120000"/>
          </a:xfrm>
          <a:prstGeom prst="ellipse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00000" y="2910000"/>
            <a:ext cx="48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3C3C4C"/>
                </a:solidFill>
                <a:latin typeface="微软雅黑"/>
                <a:ea typeface="微软雅黑"/>
              </a:rPr>
              <a:t>新生儿专用监护仪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0000" y="3170000"/>
            <a:ext cx="48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监测心率、呼吸、血氧</a:t>
            </a:r>
          </a:p>
        </p:txBody>
      </p:sp>
      <p:sp>
        <p:nvSpPr>
          <p:cNvPr id="43" name="Oval 42"/>
          <p:cNvSpPr/>
          <p:nvPr/>
        </p:nvSpPr>
        <p:spPr>
          <a:xfrm>
            <a:off x="6400000" y="3670000"/>
            <a:ext cx="120000" cy="120000"/>
          </a:xfrm>
          <a:prstGeom prst="ellipse">
            <a:avLst/>
          </a:prstGeom>
          <a:solidFill>
            <a:srgbClr val="7E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0000" y="3590000"/>
            <a:ext cx="48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3C3C4C"/>
                </a:solidFill>
                <a:latin typeface="微软雅黑"/>
                <a:ea typeface="微软雅黑"/>
              </a:rPr>
              <a:t>呼吸支持设备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0000" y="3850000"/>
            <a:ext cx="48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无创/有创呼吸机</a:t>
            </a:r>
          </a:p>
        </p:txBody>
      </p:sp>
      <p:sp>
        <p:nvSpPr>
          <p:cNvPr id="46" name="Oval 45"/>
          <p:cNvSpPr/>
          <p:nvPr/>
        </p:nvSpPr>
        <p:spPr>
          <a:xfrm>
            <a:off x="6400000" y="4350000"/>
            <a:ext cx="120000" cy="120000"/>
          </a:xfrm>
          <a:prstGeom prst="ellipse">
            <a:avLst/>
          </a:prstGeom>
          <a:solidFill>
            <a:srgbClr val="B8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00000" y="4270000"/>
            <a:ext cx="48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3C3C4C"/>
                </a:solidFill>
                <a:latin typeface="微软雅黑"/>
                <a:ea typeface="微软雅黑"/>
              </a:rPr>
              <a:t>输液泵 / 注射泵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00000" y="4530000"/>
            <a:ext cx="48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精确药物输注</a:t>
            </a:r>
          </a:p>
        </p:txBody>
      </p:sp>
      <p:sp>
        <p:nvSpPr>
          <p:cNvPr id="49" name="Oval 48"/>
          <p:cNvSpPr/>
          <p:nvPr/>
        </p:nvSpPr>
        <p:spPr>
          <a:xfrm>
            <a:off x="6400000" y="5030000"/>
            <a:ext cx="120000" cy="120000"/>
          </a:xfrm>
          <a:prstGeom prst="ellipse">
            <a:avLst/>
          </a:prstGeom>
          <a:solidFill>
            <a:srgbClr val="F5B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00000" y="4950000"/>
            <a:ext cx="48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3C3C4C"/>
                </a:solidFill>
                <a:latin typeface="微软雅黑"/>
                <a:ea typeface="微软雅黑"/>
              </a:rPr>
              <a:t>新生儿复苏器材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0000" y="5210000"/>
            <a:ext cx="48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头罩、气管插管等</a:t>
            </a:r>
          </a:p>
        </p:txBody>
      </p:sp>
      <p:sp>
        <p:nvSpPr>
          <p:cNvPr id="52" name="Oval 51"/>
          <p:cNvSpPr/>
          <p:nvPr/>
        </p:nvSpPr>
        <p:spPr>
          <a:xfrm>
            <a:off x="6400000" y="5710000"/>
            <a:ext cx="120000" cy="120000"/>
          </a:xfrm>
          <a:prstGeom prst="ellipse">
            <a:avLst/>
          </a:prstGeom>
          <a:solidFill>
            <a:srgbClr val="E8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00000" y="5630000"/>
            <a:ext cx="48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3C3C4C"/>
                </a:solidFill>
                <a:latin typeface="微软雅黑"/>
                <a:ea typeface="微软雅黑"/>
              </a:rPr>
              <a:t>血气分析仪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00000" y="5890000"/>
            <a:ext cx="48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66678"/>
                </a:solidFill>
                <a:latin typeface="微软雅黑"/>
                <a:ea typeface="微软雅黑"/>
              </a:rPr>
              <a:t>快速血液检测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00000" y="6500000"/>
            <a:ext cx="1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666678"/>
                </a:solidFill>
                <a:latin typeface="微软雅黑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E8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00000" y="-300000"/>
            <a:ext cx="1500000" cy="1500000"/>
          </a:xfrm>
          <a:prstGeom prst="ellipse">
            <a:avLst/>
          </a:prstGeom>
          <a:solidFill>
            <a:srgbClr val="FFE0E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00000" y="5500000"/>
            <a:ext cx="1200000" cy="1200000"/>
          </a:xfrm>
          <a:prstGeom prst="ellipse">
            <a:avLst/>
          </a:prstGeom>
          <a:solidFill>
            <a:srgbClr val="FFE8E8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180000"/>
            <a:ext cx="100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>
                <a:solidFill>
                  <a:srgbClr val="3C3C4C"/>
                </a:solidFill>
                <a:latin typeface="微软雅黑"/>
                <a:ea typeface="微软雅黑"/>
              </a:rPr>
              <a:t>🎯  新生儿患者十大安全目标（一）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620000"/>
            <a:ext cx="10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666678"/>
                </a:solidFill>
                <a:latin typeface="微软雅黑"/>
                <a:ea typeface="微软雅黑"/>
              </a:rPr>
              <a:t>依据中国医院协会《患者安全目标（2025版）》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880000"/>
            <a:ext cx="2000000" cy="25000"/>
          </a:xfrm>
          <a:prstGeom prst="rect">
            <a:avLst/>
          </a:prstGeom>
          <a:solidFill>
            <a:srgbClr val="E8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0000" y="980000"/>
            <a:ext cx="11200000" cy="1000000"/>
          </a:xfrm>
          <a:prstGeom prst="roundRect">
            <a:avLst>
              <a:gd name="adj" fmla="val 5000"/>
            </a:avLst>
          </a:prstGeom>
          <a:solidFill>
            <a:srgbClr val="F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00000" y="1230000"/>
            <a:ext cx="500000" cy="500000"/>
          </a:xfrm>
          <a:prstGeom prst="ellipse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000" y="101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48FB1"/>
                </a:solidFill>
                <a:latin typeface="微软雅黑"/>
                <a:ea typeface="微软雅黑"/>
              </a:rPr>
              <a:t>正确识别患者身份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000" y="135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严格执行查对制度，至少采用两种方式确认身份（姓名+住院号），不得用床号作为唯一识别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新生儿出生后立即佩戴母婴配对腕带，每日检查腕带完整性和清晰度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000" y="135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鼓励应用条码/电子标签等新技术，但须结合口头核对，不可单独使用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输血、用药等关键环节需双人双向核对并留痕，严防错抱、错认等不良事件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0000" y="2040000"/>
            <a:ext cx="11200000" cy="1000000"/>
          </a:xfrm>
          <a:prstGeom prst="roundRect">
            <a:avLst>
              <a:gd name="adj" fmla="val 5000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0000" y="2290000"/>
            <a:ext cx="500000" cy="500000"/>
          </a:xfrm>
          <a:prstGeom prst="ellipse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000" y="207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7EBCE6"/>
                </a:solidFill>
                <a:latin typeface="微软雅黑"/>
                <a:ea typeface="微软雅黑"/>
              </a:rPr>
              <a:t>确保用药与用血安全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000" y="241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规范医嘱开具、审核、查对和药品重整流程，严格执行"三查八对"制度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新生儿用药剂量按体重精确计算，高警示药品专柜存放、双人核对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000" y="241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强化特殊管理药品（麻醉、精神类等）监管，完善不良反应监测体系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输血实施全闭环管理，反复核对血型及交叉配血，重视输血追踪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0000" y="3100000"/>
            <a:ext cx="11200000" cy="1000000"/>
          </a:xfrm>
          <a:prstGeom prst="roundRect">
            <a:avLst>
              <a:gd name="adj" fmla="val 5000"/>
            </a:avLst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00000" y="3350000"/>
            <a:ext cx="500000" cy="500000"/>
          </a:xfrm>
          <a:prstGeom prst="ellipse">
            <a:avLst/>
          </a:prstGeom>
          <a:solidFill>
            <a:srgbClr val="7E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000" y="313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7EC8A0"/>
                </a:solidFill>
                <a:latin typeface="微软雅黑"/>
                <a:ea typeface="微软雅黑"/>
              </a:rPr>
              <a:t>强化围手术期安全管理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000" y="347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严格术前评估核查，手术部位由主刀医生在患儿清醒时标记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术前充分评估新生儿耐受能力，建立多学科协作与转运交接制度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000" y="347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术中严格体温管理与液体管理，增强围手术期疼痛管理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术后密切监测生命体征，规范标本管理，实施多模式镇痛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0000" y="4160000"/>
            <a:ext cx="11200000" cy="1000000"/>
          </a:xfrm>
          <a:prstGeom prst="roundRect">
            <a:avLst>
              <a:gd name="adj" fmla="val 5000"/>
            </a:avLst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0000" y="4410000"/>
            <a:ext cx="500000" cy="500000"/>
          </a:xfrm>
          <a:prstGeom prst="ellipse">
            <a:avLst/>
          </a:prstGeom>
          <a:solidFill>
            <a:srgbClr val="B8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000" y="419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B89BD5"/>
                </a:solidFill>
                <a:latin typeface="微软雅黑"/>
                <a:ea typeface="微软雅黑"/>
              </a:rPr>
              <a:t>加强有效沟通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000" y="453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建立结构化多渠道沟通体系，规范交接班流程（SBAR沟通模式）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危重患儿实施床旁交接，高风险环节信息传递清晰准确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000" y="453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与家属沟通病情使用通俗语言，建立家属沟通记录制度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建立不良事件自愿/强制报告及反馈机制，定期沟通技能培训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0000" y="5220000"/>
            <a:ext cx="11200000" cy="1000000"/>
          </a:xfrm>
          <a:prstGeom prst="roundRect">
            <a:avLst>
              <a:gd name="adj" fmla="val 5000"/>
            </a:avLst>
          </a:prstGeom>
          <a:solidFill>
            <a:srgbClr val="FF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0000" y="5470000"/>
            <a:ext cx="500000" cy="500000"/>
          </a:xfrm>
          <a:prstGeom prst="ellipse">
            <a:avLst/>
          </a:prstGeom>
          <a:solidFill>
            <a:srgbClr val="F5B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000" y="525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5B07A"/>
                </a:solidFill>
                <a:latin typeface="微软雅黑"/>
                <a:ea typeface="微软雅黑"/>
              </a:rPr>
              <a:t>落实临床"危急值"管理制度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000" y="559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建立新生儿危急值项目及范围（如电解质紊乱、败血症指标等）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明确危急值报告流程，报告15分钟内完成，接报后立即处理并记录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000" y="559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重点关注夜间与节假日等时段，确保危急值闭环管理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定期评估危急值项目适宜性，加强信息系统建设及培训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00000" y="6500000"/>
            <a:ext cx="1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666678"/>
                </a:solidFill>
                <a:latin typeface="微软雅黑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E8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00000" y="-300000"/>
            <a:ext cx="1500000" cy="1500000"/>
          </a:xfrm>
          <a:prstGeom prst="ellipse">
            <a:avLst/>
          </a:prstGeom>
          <a:solidFill>
            <a:srgbClr val="FFE0E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00000" y="5500000"/>
            <a:ext cx="1200000" cy="1200000"/>
          </a:xfrm>
          <a:prstGeom prst="ellipse">
            <a:avLst/>
          </a:prstGeom>
          <a:solidFill>
            <a:srgbClr val="FFE8E8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180000"/>
            <a:ext cx="100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>
                <a:solidFill>
                  <a:srgbClr val="3C3C4C"/>
                </a:solidFill>
                <a:latin typeface="微软雅黑"/>
                <a:ea typeface="微软雅黑"/>
              </a:rPr>
              <a:t>🎯  新生儿患者十大安全目标（二）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620000"/>
            <a:ext cx="10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666678"/>
                </a:solidFill>
                <a:latin typeface="微软雅黑"/>
                <a:ea typeface="微软雅黑"/>
              </a:rPr>
              <a:t>依据中国医院协会《患者安全目标（2025版）》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880000"/>
            <a:ext cx="2000000" cy="25000"/>
          </a:xfrm>
          <a:prstGeom prst="rect">
            <a:avLst/>
          </a:prstGeom>
          <a:solidFill>
            <a:srgbClr val="E8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0000" y="980000"/>
            <a:ext cx="11200000" cy="100000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00000" y="1230000"/>
            <a:ext cx="500000" cy="500000"/>
          </a:xfrm>
          <a:prstGeom prst="ellipse">
            <a:avLst/>
          </a:prstGeom>
          <a:solidFill>
            <a:srgbClr val="E8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000" y="101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E87C7C"/>
                </a:solidFill>
                <a:latin typeface="微软雅黑"/>
                <a:ea typeface="微软雅黑"/>
              </a:rPr>
              <a:t>预防和减少医院相关性感染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000" y="135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强化感控组织体系，新生儿科作为高风险科室重点监控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严格执行手卫生规范，提高手卫生依从性，掌握七步洗手法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000" y="135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规范无菌操作，仪器设备每日消毒，一次性物品不重复使用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加强医疗废物分类处理，监控耐药菌感染，定期环境微生物监测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0000" y="2040000"/>
            <a:ext cx="11200000" cy="1000000"/>
          </a:xfrm>
          <a:prstGeom prst="roundRect">
            <a:avLst>
              <a:gd name="adj" fmla="val 5000"/>
            </a:avLst>
          </a:prstGeom>
          <a:solidFill>
            <a:srgbClr val="F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0000" y="2290000"/>
            <a:ext cx="500000" cy="500000"/>
          </a:xfrm>
          <a:prstGeom prst="ellipse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000" y="207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48FB1"/>
                </a:solidFill>
                <a:latin typeface="微软雅黑"/>
                <a:ea typeface="微软雅黑"/>
              </a:rPr>
              <a:t>加强孕产妇及新生儿安全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000" y="241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严格落实母婴安全五项制度：妊娠风险筛查、高危孕产妇专案管理等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强化新生儿身份核查、出入管理、房间和腕带匹配，严防抱错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000" y="241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建立急危重新生儿院内救治绿色通道，定期开展新生儿复苏培训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完善危重救治协调机制，推广母婴舒适及尊严照护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0000" y="3100000"/>
            <a:ext cx="11200000" cy="1000000"/>
          </a:xfrm>
          <a:prstGeom prst="roundRect">
            <a:avLst>
              <a:gd name="adj" fmla="val 5000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00000" y="3350000"/>
            <a:ext cx="500000" cy="500000"/>
          </a:xfrm>
          <a:prstGeom prst="ellipse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000" y="313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7EBCE6"/>
                </a:solidFill>
                <a:latin typeface="微软雅黑"/>
                <a:ea typeface="微软雅黑"/>
              </a:rPr>
              <a:t>鼓励患者及家属参与患者安全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000" y="347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强调医患共同决策，开展有效知情沟通，向家长普及安全宣教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推动家属参与身份核对、手术签字、入出院核查等关键环节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000" y="347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鼓励家长参与护理决策，建立意见反馈渠道，开展满意度调查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规范AI应用于用药指导、随访，完善病情报告渠道和隐私保护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0000" y="4160000"/>
            <a:ext cx="11200000" cy="1000000"/>
          </a:xfrm>
          <a:prstGeom prst="roundRect">
            <a:avLst>
              <a:gd name="adj" fmla="val 5000"/>
            </a:avLst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0000" y="4410000"/>
            <a:ext cx="500000" cy="500000"/>
          </a:xfrm>
          <a:prstGeom prst="ellipse">
            <a:avLst/>
          </a:prstGeom>
          <a:solidFill>
            <a:srgbClr val="7E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000" y="419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7EC8A0"/>
                </a:solidFill>
                <a:latin typeface="微软雅黑"/>
                <a:ea typeface="微软雅黑"/>
              </a:rPr>
              <a:t>识别患者安全风险（2025新增独立目标）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000" y="453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完善安全风险评估与预警机制，入院时全面安全评估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早期识别高危事件：坠床、静注外渗、哺乳误吸等纳入预防机制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000" y="453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建立高风险患者预警、巡查和意外上报闭环管理体系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高危新生儿重点监护，积极预防自伤等行为风险，加强环境隐患排查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0000" y="5220000"/>
            <a:ext cx="11200000" cy="1000000"/>
          </a:xfrm>
          <a:prstGeom prst="roundRect">
            <a:avLst>
              <a:gd name="adj" fmla="val 5000"/>
            </a:avLst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0000" y="5470000"/>
            <a:ext cx="500000" cy="500000"/>
          </a:xfrm>
          <a:prstGeom prst="ellipse">
            <a:avLst/>
          </a:prstGeom>
          <a:solidFill>
            <a:srgbClr val="B8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000" y="525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B89BD5"/>
                </a:solidFill>
                <a:latin typeface="微软雅黑"/>
                <a:ea typeface="微软雅黑"/>
              </a:rPr>
              <a:t>加强医学装备及信息安全管理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000" y="559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完善生命支持类、急救类设备日常检测、警报响应，定期维护校准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新生儿科输液泵、暖箱、辐射保暖台等专用设备严格管控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000" y="5590000"/>
            <a:ext cx="52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强化临床信息系统安全规范及权限管理，数据备份和恢复机制</a:t>
            </a:r>
          </a:p>
          <a:p>
            <a:pPr algn="l">
              <a:spcAft>
                <a:spcPts val="200"/>
              </a:spcAft>
              <a:lnSpc>
                <a:spcPct val="130000"/>
              </a:lnSpc>
            </a:pPr>
            <a:r>
              <a:rPr sz="900">
                <a:solidFill>
                  <a:srgbClr val="666678"/>
                </a:solidFill>
                <a:latin typeface="微软雅黑"/>
                <a:ea typeface="微软雅黑"/>
              </a:rPr>
              <a:t>• 建立高风险设备监控和不良事件上报，保护数据真实性与隐私信息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00000" y="6500000"/>
            <a:ext cx="1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666678"/>
                </a:solidFill>
                <a:latin typeface="微软雅黑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E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00" y="-400000"/>
            <a:ext cx="1800000" cy="1800000"/>
          </a:xfrm>
          <a:prstGeom prst="ellipse">
            <a:avLst/>
          </a:prstGeom>
          <a:solidFill>
            <a:srgbClr val="C5E8D5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200000" y="200000"/>
            <a:ext cx="1200000" cy="1200000"/>
          </a:xfrm>
          <a:prstGeom prst="ellipse">
            <a:avLst/>
          </a:prstGeom>
          <a:solidFill>
            <a:srgbClr val="E0F5E8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500000" y="5800000"/>
            <a:ext cx="1500000" cy="1500000"/>
          </a:xfrm>
          <a:prstGeom prst="ellipse">
            <a:avLst/>
          </a:prstGeom>
          <a:solidFill>
            <a:srgbClr val="E0F5E8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0000" y="6200000"/>
            <a:ext cx="900000" cy="900000"/>
          </a:xfrm>
          <a:prstGeom prst="ellipse">
            <a:avLst/>
          </a:prstGeom>
          <a:solidFill>
            <a:srgbClr val="C5E8D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7E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000" y="250000"/>
            <a:ext cx="8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3C3C4C"/>
                </a:solidFill>
                <a:latin typeface="微软雅黑"/>
                <a:ea typeface="微软雅黑"/>
              </a:rPr>
              <a:t>🍼  新生儿日常护理安全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750000"/>
            <a:ext cx="2000000" cy="30000"/>
          </a:xfrm>
          <a:prstGeom prst="rect">
            <a:avLst/>
          </a:prstGeom>
          <a:solidFill>
            <a:srgbClr val="7E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00" y="1050000"/>
            <a:ext cx="2150000" cy="5500000"/>
          </a:xfrm>
          <a:prstGeom prst="roundRect">
            <a:avLst>
              <a:gd name="adj" fmla="val 5000"/>
            </a:avLst>
          </a:prstGeom>
          <a:solidFill>
            <a:srgbClr val="F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50000" y="1250000"/>
            <a:ext cx="600000" cy="600000"/>
          </a:xfrm>
          <a:prstGeom prst="ellipse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000" y="1950000"/>
            <a:ext cx="195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F48FB1"/>
                </a:solidFill>
                <a:latin typeface="微软雅黑"/>
                <a:ea typeface="微软雅黑"/>
              </a:rPr>
              <a:t>母乳喂养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000" y="2350000"/>
            <a:ext cx="1350000" cy="20000"/>
          </a:xfrm>
          <a:prstGeom prst="rect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000" y="2550000"/>
            <a:ext cx="1950000" cy="3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按需哺乳，每次15-20分钟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正确含接姿势，避免乳头损伤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喂后竖抱拍嗝，防止吐奶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人工喂养需严格奶具消毒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0000" y="1050000"/>
            <a:ext cx="2150000" cy="5500000"/>
          </a:xfrm>
          <a:prstGeom prst="roundRect">
            <a:avLst>
              <a:gd name="adj" fmla="val 5000"/>
            </a:avLst>
          </a:prstGeom>
          <a:solidFill>
            <a:srgbClr val="FF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200000" y="1250000"/>
            <a:ext cx="600000" cy="600000"/>
          </a:xfrm>
          <a:prstGeom prst="ellipse">
            <a:avLst/>
          </a:prstGeom>
          <a:solidFill>
            <a:srgbClr val="F5B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0000" y="1950000"/>
            <a:ext cx="195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F5B07A"/>
                </a:solidFill>
                <a:latin typeface="微软雅黑"/>
                <a:ea typeface="微软雅黑"/>
              </a:rPr>
              <a:t>保暖护理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50000" y="2350000"/>
            <a:ext cx="1350000" cy="20000"/>
          </a:xfrm>
          <a:prstGeom prst="rect">
            <a:avLst/>
          </a:prstGeom>
          <a:solidFill>
            <a:srgbClr val="F5B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50000" y="2550000"/>
            <a:ext cx="1950000" cy="3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维持体温36.5～37.5°C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注意"四保暖"：头、手、足、腹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衣物纯棉柔软、宽松适度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避免包裹过紧影响呼吸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0000" y="1050000"/>
            <a:ext cx="2150000" cy="5500000"/>
          </a:xfrm>
          <a:prstGeom prst="roundRect">
            <a:avLst>
              <a:gd name="adj" fmla="val 5000"/>
            </a:avLst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50000" y="1250000"/>
            <a:ext cx="600000" cy="600000"/>
          </a:xfrm>
          <a:prstGeom prst="ellipse">
            <a:avLst/>
          </a:prstGeom>
          <a:solidFill>
            <a:srgbClr val="7E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000" y="1950000"/>
            <a:ext cx="195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7EC8A0"/>
                </a:solidFill>
                <a:latin typeface="微软雅黑"/>
                <a:ea typeface="微软雅黑"/>
              </a:rPr>
              <a:t>脐带护理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0000" y="2350000"/>
            <a:ext cx="1350000" cy="20000"/>
          </a:xfrm>
          <a:prstGeom prst="rect">
            <a:avLst/>
          </a:prstGeom>
          <a:solidFill>
            <a:srgbClr val="7E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000" y="2550000"/>
            <a:ext cx="1950000" cy="3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保持脐部清洁干燥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每日用碘伏或酒精消毒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脐带未脱落前避免沾水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如有红肿渗液及时就医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50000" y="1050000"/>
            <a:ext cx="2150000" cy="5500000"/>
          </a:xfrm>
          <a:prstGeom prst="roundRect">
            <a:avLst>
              <a:gd name="adj" fmla="val 5000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00000" y="1250000"/>
            <a:ext cx="600000" cy="600000"/>
          </a:xfrm>
          <a:prstGeom prst="ellipse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��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0000" y="1950000"/>
            <a:ext cx="195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7EBCE6"/>
                </a:solidFill>
                <a:latin typeface="微软雅黑"/>
                <a:ea typeface="微软雅黑"/>
              </a:rPr>
              <a:t>皮肤护理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50000" y="2350000"/>
            <a:ext cx="1350000" cy="20000"/>
          </a:xfrm>
          <a:prstGeom prst="rect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0000" y="2550000"/>
            <a:ext cx="1950000" cy="3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沐浴水温37～40°C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使用婴儿专用洗护用品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及时更换尿布防尿布疹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皮肤皱褶处保持干燥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00000" y="1050000"/>
            <a:ext cx="2150000" cy="5500000"/>
          </a:xfrm>
          <a:prstGeom prst="roundRect">
            <a:avLst>
              <a:gd name="adj" fmla="val 5000"/>
            </a:avLst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50000" y="1250000"/>
            <a:ext cx="600000" cy="600000"/>
          </a:xfrm>
          <a:prstGeom prst="ellipse">
            <a:avLst/>
          </a:prstGeom>
          <a:solidFill>
            <a:srgbClr val="B8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00000" y="1950000"/>
            <a:ext cx="195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B89BD5"/>
                </a:solidFill>
                <a:latin typeface="微软雅黑"/>
                <a:ea typeface="微软雅黑"/>
              </a:rPr>
              <a:t>病情观察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0000" y="2350000"/>
            <a:ext cx="1350000" cy="20000"/>
          </a:xfrm>
          <a:prstGeom prst="rect">
            <a:avLst/>
          </a:prstGeom>
          <a:solidFill>
            <a:srgbClr val="B8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00000" y="2550000"/>
            <a:ext cx="1950000" cy="3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观察精神状态与反应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注意皮肤颜色（黄疸）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监测体温、呼吸、心率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000">
                <a:solidFill>
                  <a:srgbClr val="666678"/>
                </a:solidFill>
                <a:latin typeface="微软雅黑"/>
                <a:ea typeface="微软雅黑"/>
              </a:rPr>
              <a:t>✦ 大小便次数及性状记录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00000" y="6500000"/>
            <a:ext cx="1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666678"/>
                </a:solidFill>
                <a:latin typeface="微软雅黑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00" y="-400000"/>
            <a:ext cx="1800000" cy="1800000"/>
          </a:xfrm>
          <a:prstGeom prst="ellipse">
            <a:avLst/>
          </a:prstGeom>
          <a:solidFill>
            <a:srgbClr val="D8C8ED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200000" y="200000"/>
            <a:ext cx="1200000" cy="1200000"/>
          </a:xfrm>
          <a:prstGeom prst="ellipse">
            <a:avLst/>
          </a:prstGeom>
          <a:solidFill>
            <a:srgbClr val="EBE0F5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500000" y="5800000"/>
            <a:ext cx="1500000" cy="1500000"/>
          </a:xfrm>
          <a:prstGeom prst="ellipse">
            <a:avLst/>
          </a:prstGeom>
          <a:solidFill>
            <a:srgbClr val="EBE0F5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0000" y="6200000"/>
            <a:ext cx="900000" cy="900000"/>
          </a:xfrm>
          <a:prstGeom prst="ellipse">
            <a:avLst/>
          </a:prstGeom>
          <a:solidFill>
            <a:srgbClr val="D8C8ED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B8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000" y="250000"/>
            <a:ext cx="8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3C3C4C"/>
                </a:solidFill>
                <a:latin typeface="微软雅黑"/>
                <a:ea typeface="微软雅黑"/>
              </a:rPr>
              <a:t>🛡️  安全防护要点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750000"/>
            <a:ext cx="2000000" cy="30000"/>
          </a:xfrm>
          <a:prstGeom prst="rect">
            <a:avLst/>
          </a:prstGeom>
          <a:solidFill>
            <a:srgbClr val="B8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0000" y="1050000"/>
            <a:ext cx="3600000" cy="5500000"/>
          </a:xfrm>
          <a:prstGeom prst="roundRect">
            <a:avLst>
              <a:gd name="adj" fmla="val 5000"/>
            </a:avLst>
          </a:prstGeom>
          <a:solidFill>
            <a:srgbClr val="F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00000" y="1250000"/>
            <a:ext cx="800000" cy="800000"/>
          </a:xfrm>
          <a:prstGeom prst="ellipse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/>
              <a:t>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000" y="215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>
                <a:solidFill>
                  <a:srgbClr val="F48FB1"/>
                </a:solidFill>
                <a:latin typeface="微软雅黑"/>
                <a:ea typeface="微软雅黑"/>
              </a:rPr>
              <a:t>身份识别管理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0000" y="2550000"/>
            <a:ext cx="2000000" cy="20000"/>
          </a:xfrm>
          <a:prstGeom prst="rect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000" y="2750000"/>
            <a:ext cx="3000000" cy="3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出生后立即佩戴母婴配对腕带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腕带含姓名、性别、住院号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每日检查腕带完整性与清晰度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破损或松脱及时更换并核对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每次操作前"双人核对"身份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严禁未核对身份进行任何操作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00000" y="1050000"/>
            <a:ext cx="3600000" cy="5500000"/>
          </a:xfrm>
          <a:prstGeom prst="roundRect">
            <a:avLst>
              <a:gd name="adj" fmla="val 5000"/>
            </a:avLst>
          </a:prstGeom>
          <a:solidFill>
            <a:srgbClr val="FF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00000" y="1250000"/>
            <a:ext cx="800000" cy="800000"/>
          </a:xfrm>
          <a:prstGeom prst="ellipse">
            <a:avLst/>
          </a:prstGeom>
          <a:solidFill>
            <a:srgbClr val="F5B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/>
              <a:t>⚠️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00000" y="215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>
                <a:solidFill>
                  <a:srgbClr val="F5B07A"/>
                </a:solidFill>
                <a:latin typeface="微软雅黑"/>
                <a:ea typeface="微软雅黑"/>
              </a:rPr>
              <a:t>防跌落管理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00000" y="2550000"/>
            <a:ext cx="2000000" cy="20000"/>
          </a:xfrm>
          <a:prstGeom prst="rect">
            <a:avLst/>
          </a:prstGeom>
          <a:solidFill>
            <a:srgbClr val="F5B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0000" y="2750000"/>
            <a:ext cx="3000000" cy="3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婴儿床护栏必须升起并锁好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操作时一手始终扶稳宝宝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转运使用专用新生儿推车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途中不得让新生儿无人看管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不要将宝宝放置在无栏高处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加强对家属跌落风险宣教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000" y="1050000"/>
            <a:ext cx="3600000" cy="550000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00000" y="1250000"/>
            <a:ext cx="800000" cy="800000"/>
          </a:xfrm>
          <a:prstGeom prst="ellipse">
            <a:avLst/>
          </a:prstGeom>
          <a:solidFill>
            <a:srgbClr val="E8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/>
              <a:t>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0000" y="215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>
                <a:solidFill>
                  <a:srgbClr val="E87C7C"/>
                </a:solidFill>
                <a:latin typeface="微软雅黑"/>
                <a:ea typeface="微软雅黑"/>
              </a:rPr>
              <a:t>防烫伤管理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00000" y="2550000"/>
            <a:ext cx="2000000" cy="20000"/>
          </a:xfrm>
          <a:prstGeom prst="rect">
            <a:avLst/>
          </a:prstGeom>
          <a:solidFill>
            <a:srgbClr val="E8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0000" y="2750000"/>
            <a:ext cx="3000000" cy="3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沐浴水温先用温度计测量（37-40°C）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禁止使用热水袋、电热毯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必须使用时加多层保护隔离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热饮/暖水瓶远离新生儿床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暖箱温度定期监测调节</a:t>
            </a:r>
          </a:p>
          <a:p>
            <a:pPr algn="l">
              <a:spcAft>
                <a:spcPts val="200"/>
              </a:spcAft>
              <a:lnSpc>
                <a:spcPct val="18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• 任何热源不得直接接触皮肤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0000" y="6500000"/>
            <a:ext cx="1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666678"/>
                </a:solidFill>
                <a:latin typeface="微软雅黑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00" y="-400000"/>
            <a:ext cx="1800000" cy="1800000"/>
          </a:xfrm>
          <a:prstGeom prst="ellipse">
            <a:avLst/>
          </a:prstGeom>
          <a:solidFill>
            <a:srgbClr val="C5E1F5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200000" y="200000"/>
            <a:ext cx="1200000" cy="1200000"/>
          </a:xfrm>
          <a:prstGeom prst="ellipse">
            <a:avLst/>
          </a:prstGeom>
          <a:solidFill>
            <a:srgbClr val="E0EEFA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500000" y="5800000"/>
            <a:ext cx="1500000" cy="1500000"/>
          </a:xfrm>
          <a:prstGeom prst="ellipse">
            <a:avLst/>
          </a:prstGeom>
          <a:solidFill>
            <a:srgbClr val="E0EEFA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0000" y="6200000"/>
            <a:ext cx="900000" cy="900000"/>
          </a:xfrm>
          <a:prstGeom prst="ellipse">
            <a:avLst/>
          </a:prstGeom>
          <a:solidFill>
            <a:srgbClr val="C5E1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000" y="250000"/>
            <a:ext cx="8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3C3C4C"/>
                </a:solidFill>
                <a:latin typeface="微软雅黑"/>
                <a:ea typeface="微软雅黑"/>
              </a:rPr>
              <a:t>🫁  预防窒息与感染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750000"/>
            <a:ext cx="2000000" cy="30000"/>
          </a:xfrm>
          <a:prstGeom prst="rect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0000" y="1050000"/>
            <a:ext cx="5600000" cy="55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00000" y="1150000"/>
            <a:ext cx="700000" cy="700000"/>
          </a:xfrm>
          <a:prstGeom prst="ellipse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/>
              <a:t>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000" y="1950000"/>
            <a:ext cx="5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4A90D9"/>
                </a:solidFill>
                <a:latin typeface="微软雅黑"/>
                <a:ea typeface="微软雅黑"/>
              </a:rPr>
              <a:t>预防窒息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0000" y="2400000"/>
            <a:ext cx="5000000" cy="40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喂奶后竖抱轻拍背部，帮助排气</a:t>
            </a:r>
          </a:p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喂奶时不可仰卧位，防止呛奶</a:t>
            </a:r>
          </a:p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安睡采取仰卧位，避免俯卧</a:t>
            </a:r>
          </a:p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床上不放毛绒玩具、枕头等物品</a:t>
            </a:r>
          </a:p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不剧烈摇晃婴儿（防摇晃综合征）</a:t>
            </a:r>
          </a:p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密切观察呼吸频率和节律</a:t>
            </a:r>
          </a:p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发现呼吸暂停立即刺激足底并报告</a:t>
            </a:r>
          </a:p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备好吸痰器和复苏器材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0000" y="1050000"/>
            <a:ext cx="5600000" cy="55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00000" y="1150000"/>
            <a:ext cx="700000" cy="700000"/>
          </a:xfrm>
          <a:prstGeom prst="ellipse">
            <a:avLst/>
          </a:prstGeom>
          <a:solidFill>
            <a:srgbClr val="7E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/>
              <a:t>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000" y="1950000"/>
            <a:ext cx="5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7EC8A0"/>
                </a:solidFill>
                <a:latin typeface="微软雅黑"/>
                <a:ea typeface="微软雅黑"/>
              </a:rPr>
              <a:t>预防感染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000" y="2400000"/>
            <a:ext cx="5000000" cy="40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接触新生儿前后必须洗手</a:t>
            </a:r>
          </a:p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掌握"七步洗手法"，每次≥15秒</a:t>
            </a:r>
          </a:p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护理用品专人专用</a:t>
            </a:r>
          </a:p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脐带护理保持清洁干燥</a:t>
            </a:r>
          </a:p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母亲患感染性疾病时暂停母乳</a:t>
            </a:r>
          </a:p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病房定期通风消毒</a:t>
            </a:r>
          </a:p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限制探视人数和频次</a:t>
            </a:r>
          </a:p>
          <a:p>
            <a:pPr algn="l">
              <a:spcAft>
                <a:spcPts val="200"/>
              </a:spcAft>
              <a:lnSpc>
                <a:spcPct val="17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✅ 新生儿衣物单独清洗消毒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0000" y="6500000"/>
            <a:ext cx="1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666678"/>
                </a:solidFill>
                <a:latin typeface="微软雅黑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00" y="-400000"/>
            <a:ext cx="1800000" cy="1800000"/>
          </a:xfrm>
          <a:prstGeom prst="ellipse">
            <a:avLst/>
          </a:prstGeom>
          <a:solidFill>
            <a:srgbClr val="FFD6E7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200000" y="200000"/>
            <a:ext cx="1200000" cy="1200000"/>
          </a:xfrm>
          <a:prstGeom prst="ellipse">
            <a:avLst/>
          </a:prstGeom>
          <a:solidFill>
            <a:srgbClr val="FFE8F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500000" y="5800000"/>
            <a:ext cx="1500000" cy="1500000"/>
          </a:xfrm>
          <a:prstGeom prst="ellipse">
            <a:avLst/>
          </a:prstGeom>
          <a:solidFill>
            <a:srgbClr val="FFE8F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0000" y="6200000"/>
            <a:ext cx="900000" cy="900000"/>
          </a:xfrm>
          <a:prstGeom prst="ellipse">
            <a:avLst/>
          </a:prstGeom>
          <a:solidFill>
            <a:srgbClr val="FFD6E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F5B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000" y="250000"/>
            <a:ext cx="8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3C3C4C"/>
                </a:solidFill>
                <a:latin typeface="微软雅黑"/>
                <a:ea typeface="微软雅黑"/>
              </a:rPr>
              <a:t>💉  疾病筛查与预防接种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750000"/>
            <a:ext cx="2000000" cy="30000"/>
          </a:xfrm>
          <a:prstGeom prst="rect">
            <a:avLst/>
          </a:prstGeom>
          <a:solidFill>
            <a:srgbClr val="F5B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0000" y="1050000"/>
            <a:ext cx="5600000" cy="55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1150000"/>
            <a:ext cx="5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F5B07A"/>
                </a:solidFill>
                <a:latin typeface="微软雅黑"/>
                <a:ea typeface="微软雅黑"/>
              </a:rPr>
              <a:t>🔬  新生儿疾病筛查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000" y="1700000"/>
            <a:ext cx="5000000" cy="4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📌 出生后72小时采集足跟血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📌 筛查项目：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     · 先天性甲状腺功能减低症（CH）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     · 苯丙酮尿症（PKU）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     · 先天性肾上腺皮质增生症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     · 葡萄糖-6-磷酸脱氢酶缺乏症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📌 听力筛查：出生后48小时内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📌 心脏筛查：脉搏血氧饱和度监测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00000" y="1050000"/>
            <a:ext cx="5600000" cy="55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0" y="1150000"/>
            <a:ext cx="5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E06F95"/>
                </a:solidFill>
                <a:latin typeface="微软雅黑"/>
                <a:ea typeface="微软雅黑"/>
              </a:rPr>
              <a:t>💉  预防接种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000" y="1700000"/>
            <a:ext cx="5000000" cy="4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📌 出生24小时内：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     · 乙肝疫苗第一针 💉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     · 卡介苗接种 💉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📌 接种注意事项：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     · 确认新生儿无禁忌症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     · 接种后观察30分钟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     · 如有异常反应及时报告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     · 保管好预防接种证</a:t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  <a:lnSpc>
                <a:spcPct val="150000"/>
              </a:lnSpc>
            </a:pPr>
            <a:r>
              <a:rPr sz="1100">
                <a:solidFill>
                  <a:srgbClr val="666678"/>
                </a:solidFill>
                <a:latin typeface="微软雅黑"/>
                <a:ea typeface="微软雅黑"/>
              </a:rPr>
              <a:t>📌 按照国家免疫规划程序按时接种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0000" y="6500000"/>
            <a:ext cx="1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666678"/>
                </a:solidFill>
                <a:latin typeface="微软雅黑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00" y="-400000"/>
            <a:ext cx="1800000" cy="1800000"/>
          </a:xfrm>
          <a:prstGeom prst="ellipse">
            <a:avLst/>
          </a:prstGeom>
          <a:solidFill>
            <a:srgbClr val="FFD6E7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200000" y="200000"/>
            <a:ext cx="1200000" cy="1200000"/>
          </a:xfrm>
          <a:prstGeom prst="ellipse">
            <a:avLst/>
          </a:prstGeom>
          <a:solidFill>
            <a:srgbClr val="FFE8F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500000" y="5800000"/>
            <a:ext cx="1500000" cy="1500000"/>
          </a:xfrm>
          <a:prstGeom prst="ellipse">
            <a:avLst/>
          </a:prstGeom>
          <a:solidFill>
            <a:srgbClr val="FFE8F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0000" y="6200000"/>
            <a:ext cx="900000" cy="900000"/>
          </a:xfrm>
          <a:prstGeom prst="ellipse">
            <a:avLst/>
          </a:prstGeom>
          <a:solidFill>
            <a:srgbClr val="FFD6E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000" y="250000"/>
            <a:ext cx="8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3C3C4C"/>
                </a:solidFill>
                <a:latin typeface="微软雅黑"/>
                <a:ea typeface="微软雅黑"/>
              </a:rPr>
              <a:t>💕  总结与温馨提示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750000"/>
            <a:ext cx="2000000" cy="30000"/>
          </a:xfrm>
          <a:prstGeom prst="rect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0000" y="1050000"/>
            <a:ext cx="5600000" cy="9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0000" y="1050000"/>
            <a:ext cx="60000" cy="900000"/>
          </a:xfrm>
          <a:prstGeom prst="rect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0000" y="1300000"/>
            <a:ext cx="5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3C3C4C"/>
                </a:solidFill>
                <a:latin typeface="微软雅黑"/>
                <a:ea typeface="微软雅黑"/>
              </a:rPr>
              <a:t>🌟  正确识别身份，严格执行腕带管理制度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000" y="1050000"/>
            <a:ext cx="5600000" cy="9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0000" y="1050000"/>
            <a:ext cx="60000" cy="900000"/>
          </a:xfrm>
          <a:prstGeom prst="rect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0000" y="1300000"/>
            <a:ext cx="5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3C3C4C"/>
                </a:solidFill>
                <a:latin typeface="微软雅黑"/>
                <a:ea typeface="微软雅黑"/>
              </a:rPr>
              <a:t>🌟  保持手卫生，预防医院感染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000" y="2150000"/>
            <a:ext cx="5600000" cy="9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0000" y="2150000"/>
            <a:ext cx="60000" cy="900000"/>
          </a:xfrm>
          <a:prstGeom prst="rect">
            <a:avLst/>
          </a:prstGeom>
          <a:solidFill>
            <a:srgbClr val="7E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000" y="2400000"/>
            <a:ext cx="5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3C3C4C"/>
                </a:solidFill>
                <a:latin typeface="微软雅黑"/>
                <a:ea typeface="微软雅黑"/>
              </a:rPr>
              <a:t>🌟  科学喂养，注意防呛奶窒息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0000" y="2150000"/>
            <a:ext cx="5600000" cy="9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0000" y="2150000"/>
            <a:ext cx="60000" cy="900000"/>
          </a:xfrm>
          <a:prstGeom prst="rect">
            <a:avLst/>
          </a:prstGeom>
          <a:solidFill>
            <a:srgbClr val="F5B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0000" y="2400000"/>
            <a:ext cx="5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3C3C4C"/>
                </a:solidFill>
                <a:latin typeface="微软雅黑"/>
                <a:ea typeface="微软雅黑"/>
              </a:rPr>
              <a:t>🌟  做好保暖护理，维持体温稳定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00" y="3250000"/>
            <a:ext cx="5600000" cy="9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0000" y="3250000"/>
            <a:ext cx="60000" cy="900000"/>
          </a:xfrm>
          <a:prstGeom prst="rect">
            <a:avLst/>
          </a:prstGeom>
          <a:solidFill>
            <a:srgbClr val="B8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0000" y="3500000"/>
            <a:ext cx="5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3C3C4C"/>
                </a:solidFill>
                <a:latin typeface="微软雅黑"/>
                <a:ea typeface="微软雅黑"/>
              </a:rPr>
              <a:t>🌟  规范脐带护理，预防感染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0000" y="3250000"/>
            <a:ext cx="5600000" cy="9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0000" y="3250000"/>
            <a:ext cx="60000" cy="900000"/>
          </a:xfrm>
          <a:prstGeom prst="rect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0000" y="3500000"/>
            <a:ext cx="5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3C3C4C"/>
                </a:solidFill>
                <a:latin typeface="微软雅黑"/>
                <a:ea typeface="微软雅黑"/>
              </a:rPr>
              <a:t>🌟  安全睡眠，仰卧为主，床上不放杂物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0000" y="4350000"/>
            <a:ext cx="5600000" cy="9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0000" y="4350000"/>
            <a:ext cx="60000" cy="900000"/>
          </a:xfrm>
          <a:prstGeom prst="rect">
            <a:avLst/>
          </a:prstGeom>
          <a:solidFill>
            <a:srgbClr val="7EB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0000" y="4600000"/>
            <a:ext cx="5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3C3C4C"/>
                </a:solidFill>
                <a:latin typeface="微软雅黑"/>
                <a:ea typeface="微软雅黑"/>
              </a:rPr>
              <a:t>��  按时完成疾病筛查和预防接种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0000" y="4350000"/>
            <a:ext cx="5600000" cy="9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0000" y="4350000"/>
            <a:ext cx="60000" cy="900000"/>
          </a:xfrm>
          <a:prstGeom prst="rect">
            <a:avLst/>
          </a:prstGeom>
          <a:solidFill>
            <a:srgbClr val="7E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0000" y="4600000"/>
            <a:ext cx="5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3C3C4C"/>
                </a:solidFill>
                <a:latin typeface="微软雅黑"/>
                <a:ea typeface="微软雅黑"/>
              </a:rPr>
              <a:t>🌟  密切观察病情变化，异常及时就医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00000" y="5500000"/>
            <a:ext cx="7200000" cy="800000"/>
          </a:xfrm>
          <a:prstGeom prst="roundRect">
            <a:avLst>
              <a:gd name="adj" fmla="val 5000"/>
            </a:avLst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5650000"/>
            <a:ext cx="68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每一个新生命都值得被温柔以待 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500000"/>
            <a:ext cx="1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>
                <a:solidFill>
                  <a:srgbClr val="666678"/>
                </a:solidFill>
                <a:latin typeface="微软雅黑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00000" y="-800000"/>
            <a:ext cx="3200000" cy="3200000"/>
          </a:xfrm>
          <a:prstGeom prst="ellipse">
            <a:avLst/>
          </a:prstGeom>
          <a:solidFill>
            <a:srgbClr val="FFE0E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00000" y="4200000"/>
            <a:ext cx="3000000" cy="3000000"/>
          </a:xfrm>
          <a:prstGeom prst="ellipse">
            <a:avLst/>
          </a:prstGeom>
          <a:solidFill>
            <a:srgbClr val="DBECFF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00000" y="-1000000"/>
            <a:ext cx="2200000" cy="2200000"/>
          </a:xfrm>
          <a:prstGeom prst="ellipse">
            <a:avLst/>
          </a:prstGeom>
          <a:solidFill>
            <a:srgbClr val="E8F5E9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00000" y="5200000"/>
            <a:ext cx="1800000" cy="1800000"/>
          </a:xfrm>
          <a:prstGeom prst="ellipse">
            <a:avLst/>
          </a:prstGeom>
          <a:solidFill>
            <a:srgbClr val="FDE2CA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00000" y="-600000"/>
            <a:ext cx="1200000" cy="1200000"/>
          </a:xfrm>
          <a:prstGeom prst="ellipse">
            <a:avLst/>
          </a:prstGeom>
          <a:solidFill>
            <a:srgbClr val="F3E5F5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00000" y="1200000"/>
            <a:ext cx="200000" cy="200000"/>
          </a:xfrm>
          <a:prstGeom prst="ellipse">
            <a:avLst/>
          </a:prstGeom>
          <a:solidFill>
            <a:srgbClr val="F48FB1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00000" y="1800000"/>
            <a:ext cx="200000" cy="200000"/>
          </a:xfrm>
          <a:prstGeom prst="ellipse">
            <a:avLst/>
          </a:prstGeom>
          <a:solidFill>
            <a:srgbClr val="F48FB1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00000" y="5800000"/>
            <a:ext cx="200000" cy="200000"/>
          </a:xfrm>
          <a:prstGeom prst="ellipse">
            <a:avLst/>
          </a:prstGeom>
          <a:solidFill>
            <a:srgbClr val="F48FB1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00000" y="5200000"/>
            <a:ext cx="200000" cy="200000"/>
          </a:xfrm>
          <a:prstGeom prst="ellipse">
            <a:avLst/>
          </a:prstGeom>
          <a:solidFill>
            <a:srgbClr val="F48FB1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000" y="1500000"/>
            <a:ext cx="7200000" cy="38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4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00000" y="1500000"/>
            <a:ext cx="7200000" cy="120000"/>
          </a:xfrm>
          <a:prstGeom prst="roundRect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0000" y="2000000"/>
            <a:ext cx="6200000" cy="7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3C3C4C"/>
                </a:solidFill>
                <a:latin typeface="微软雅黑"/>
                <a:ea typeface="微软雅黑"/>
              </a:rPr>
              <a:t>感谢聆听 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0000" y="2700000"/>
            <a:ext cx="6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0">
                <a:solidFill>
                  <a:srgbClr val="E06F95"/>
                </a:solidFill>
                <a:latin typeface="微软雅黑"/>
                <a:ea typeface="微软雅黑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000" y="3300000"/>
            <a:ext cx="2600000" cy="25000"/>
          </a:xfrm>
          <a:prstGeom prst="rect">
            <a:avLst/>
          </a:prstGeom>
          <a:solidFill>
            <a:srgbClr val="F48F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0000" y="3500000"/>
            <a:ext cx="6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>
                <a:solidFill>
                  <a:srgbClr val="666678"/>
                </a:solidFill>
                <a:latin typeface="微软雅黑"/>
                <a:ea typeface="微软雅黑"/>
              </a:rPr>
              <a:t>新生儿科  ·  护理安全科普宣教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0000" y="4000000"/>
            <a:ext cx="6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>
                <a:solidFill>
                  <a:srgbClr val="F48FB1"/>
                </a:solidFill>
                <a:latin typeface="微软雅黑"/>
                <a:ea typeface="微软雅黑"/>
              </a:rPr>
              <a:t>呵护新生  守护未来 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0000" y="6200000"/>
            <a:ext cx="2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F48FB1"/>
                </a:solidFill>
                <a:latin typeface="微软雅黑"/>
                <a:ea typeface="微软雅黑"/>
              </a:rPr>
              <a:t>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00000" y="6200000"/>
            <a:ext cx="2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2000" b="0">
                <a:solidFill>
                  <a:srgbClr val="7EBCE6"/>
                </a:solidFill>
                <a:latin typeface="微软雅黑"/>
                <a:ea typeface="微软雅黑"/>
              </a:rPr>
              <a:t>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