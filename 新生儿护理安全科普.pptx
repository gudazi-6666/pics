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371600"/>
            <a:ext cx="2286000" cy="228600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-731520"/>
            <a:ext cx="1371600" cy="1371600"/>
          </a:xfrm>
          <a:prstGeom prst="ellipse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1371600"/>
            <a:ext cx="7589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86B93"/>
                </a:solidFill>
                <a:latin typeface="Microsoft YaHei"/>
              </a:defRPr>
            </a:pPr>
            <a:r>
              <a:t>🍼 新生儿护理安全科普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346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A7CA5"/>
                </a:solidFill>
                <a:latin typeface="Microsoft YaHei"/>
              </a:defRPr>
            </a:pPr>
            <a:r>
              <a:t>Neonatal Care Safety Education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566160"/>
            <a:ext cx="3017520" cy="2540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8404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B6B"/>
                </a:solidFill>
                <a:latin typeface="Microsoft YaHei"/>
              </a:defRPr>
            </a:pPr>
            <a:r>
              <a:t>新生儿科  ·  护理安全知识宣教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4805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B4C8"/>
                </a:solidFill>
                <a:latin typeface="Microsoft YaHei"/>
              </a:defRPr>
            </a:pPr>
            <a:r>
              <a:t>呵护每一个新生命 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6B93"/>
                </a:solidFill>
                <a:latin typeface="Microsoft YaHei"/>
              </a:defRPr>
            </a:pPr>
            <a:r>
              <a:t>📋 目录 Contents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554480"/>
            <a:ext cx="7589520" cy="77724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1664208"/>
            <a:ext cx="548640" cy="548640"/>
          </a:xfrm>
          <a:prstGeom prst="ellipse">
            <a:avLst/>
          </a:prstGeom>
          <a:solidFill>
            <a:srgbClr val="E8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27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B93"/>
                </a:solidFill>
                <a:latin typeface="Microsoft YaHei"/>
              </a:defRPr>
            </a:pPr>
            <a:r>
              <a:t>什么是新生儿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YaHei"/>
              </a:defRPr>
            </a:pPr>
            <a:r>
              <a:t>新生儿的定义与分类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2468880"/>
            <a:ext cx="7589520" cy="77724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0320" y="2578608"/>
            <a:ext cx="548640" cy="548640"/>
          </a:xfrm>
          <a:prstGeom prst="ellipse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606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42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7CA5"/>
                </a:solidFill>
                <a:latin typeface="Microsoft YaHei"/>
              </a:defRPr>
            </a:pPr>
            <a:r>
              <a:t>新生儿科病房介绍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YaHei"/>
              </a:defRPr>
            </a:pPr>
            <a:r>
              <a:t>病房环境、设备及管理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83280"/>
            <a:ext cx="7589520" cy="77724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60320" y="3493008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520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456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8860B"/>
                </a:solidFill>
                <a:latin typeface="Microsoft YaHei"/>
              </a:defRPr>
            </a:pPr>
            <a:r>
              <a:t>新生儿患者十大安全目标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YaHei"/>
              </a:defRPr>
            </a:pPr>
            <a:r>
              <a:t>中国医院协会2025版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297680"/>
            <a:ext cx="7589520" cy="77724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60320" y="4407408"/>
            <a:ext cx="548640" cy="548640"/>
          </a:xfrm>
          <a:prstGeom prst="ellipse">
            <a:avLst/>
          </a:prstGeom>
          <a:solidFill>
            <a:srgbClr val="28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434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370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7A3C"/>
                </a:solidFill>
                <a:latin typeface="Microsoft YaHei"/>
              </a:defRPr>
            </a:pPr>
            <a:r>
              <a:t>新生儿日常护理安全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YaHei"/>
              </a:defRPr>
            </a:pPr>
            <a:r>
              <a:t>喂养、保暖、脐带护理等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212080"/>
            <a:ext cx="7589520" cy="77724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60320" y="5321808"/>
            <a:ext cx="548640" cy="548640"/>
          </a:xfrm>
          <a:prstGeom prst="ellipse">
            <a:avLst/>
          </a:prstGeom>
          <a:solidFill>
            <a:srgbClr val="6C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5349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285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A8F"/>
                </a:solidFill>
                <a:latin typeface="Microsoft YaHei"/>
              </a:defRPr>
            </a:pPr>
            <a:r>
              <a:t>安全防护要点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YaHei"/>
              </a:defRPr>
            </a:pPr>
            <a:r>
              <a:t>防跌落、防烫伤、身份识别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6126480"/>
            <a:ext cx="7589520" cy="77724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60320" y="6236208"/>
            <a:ext cx="548640" cy="548640"/>
          </a:xfrm>
          <a:prstGeom prst="ellipse">
            <a:avLst/>
          </a:prstGeom>
          <a:solidFill>
            <a:srgbClr val="E8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6263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B93"/>
                </a:solidFill>
                <a:latin typeface="Microsoft YaHei"/>
              </a:defRPr>
            </a:pPr>
            <a:r>
              <a:t>总结与温馨提示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6537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YaHei"/>
              </a:defRPr>
            </a:pPr>
            <a:r>
              <a:t>科学护理 安全成长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6B93"/>
                </a:solidFill>
                <a:latin typeface="Microsoft YaHei"/>
              </a:defRPr>
            </a:pPr>
            <a:r>
              <a:t>👶 什么是新生儿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4846320" cy="2286000"/>
          </a:xfrm>
          <a:prstGeom prst="roundRect">
            <a:avLst/>
          </a:prstGeom>
          <a:solidFill>
            <a:srgbClr val="FFE4EC"/>
          </a:solidFill>
          <a:ln w="19050">
            <a:solidFill>
              <a:srgbClr val="F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B93"/>
                </a:solidFill>
                <a:latin typeface="Microsoft YaHei"/>
              </a:defRPr>
            </a:pPr>
            <a:r>
              <a:t>📖 新生儿定义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D3D3D"/>
                </a:solidFill>
                <a:latin typeface="Microsoft YaHei"/>
              </a:defRPr>
            </a:pPr>
            <a:r>
              <a:t>新生儿是指从脐带结扎到出生后28天内的婴儿。</a:t>
            </a:r>
          </a:p>
          <a:p>
            <a:pPr>
              <a:spcAft>
                <a:spcPts val="600"/>
              </a:spcAft>
              <a:defRPr sz="1500">
                <a:solidFill>
                  <a:srgbClr val="3D3D3D"/>
                </a:solidFill>
                <a:latin typeface="Microsoft YaHei"/>
              </a:defRPr>
            </a:pPr>
            <a:r>
              <a:t>这一时期是人一生中最脆弱的阶段，</a:t>
            </a:r>
          </a:p>
          <a:p>
            <a:pPr>
              <a:spcAft>
                <a:spcPts val="600"/>
              </a:spcAft>
              <a:defRPr sz="1500">
                <a:solidFill>
                  <a:srgbClr val="3D3D3D"/>
                </a:solidFill>
                <a:latin typeface="Microsoft YaHei"/>
              </a:defRPr>
            </a:pPr>
            <a:r>
              <a:t>各器官系统发育尚不完善，免疫力低下，</a:t>
            </a:r>
          </a:p>
          <a:p>
            <a:pPr>
              <a:spcAft>
                <a:spcPts val="600"/>
              </a:spcAft>
              <a:defRPr sz="1500">
                <a:solidFill>
                  <a:srgbClr val="3D3D3D"/>
                </a:solidFill>
                <a:latin typeface="Microsoft YaHei"/>
              </a:defRPr>
            </a:pPr>
            <a:r>
              <a:t>容易受到外界环境的影响。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4846320" cy="22860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7CA5"/>
                </a:solidFill>
                <a:latin typeface="Microsoft YaHei"/>
              </a:defRPr>
            </a:pPr>
            <a:r>
              <a:t>📊 新生儿分期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🔹 早期新生儿：出生后 1～7 天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· 是新生儿死亡高峰期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· 需要密切观察和精心护理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🔹 晚期新生儿：出生后 8～28 天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· 逐渐适应外界环境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· 仍需关注喂养与健康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23360"/>
            <a:ext cx="10332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B93"/>
                </a:solidFill>
                <a:latin typeface="Microsoft YaHei"/>
              </a:defRPr>
            </a:pPr>
            <a:r>
              <a:t>🏥 特殊新生儿分类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663440"/>
            <a:ext cx="1792224" cy="155448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709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6B93"/>
                </a:solidFill>
                <a:latin typeface="Microsoft YaHei"/>
              </a:defRPr>
            </a:pPr>
            <a:r>
              <a:t>早产儿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74920"/>
            <a:ext cx="16093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D3D3D"/>
                </a:solidFill>
                <a:latin typeface="Microsoft YaHei"/>
              </a:defRPr>
            </a:pPr>
            <a:r>
              <a:t>胎龄&lt;37周出生</a:t>
            </a:r>
            <a:br/>
            <a:r>
              <a:t>需特殊保暖和营养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4663440"/>
            <a:ext cx="1792224" cy="155448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4" y="4709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6B93"/>
                </a:solidFill>
                <a:latin typeface="Microsoft YaHei"/>
              </a:defRPr>
            </a:pPr>
            <a:r>
              <a:t>足月儿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074920"/>
            <a:ext cx="16093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D3D3D"/>
                </a:solidFill>
                <a:latin typeface="Microsoft YaHei"/>
              </a:defRPr>
            </a:pPr>
            <a:r>
              <a:t>胎龄37~42周</a:t>
            </a:r>
            <a:br/>
            <a:r>
              <a:t>发育相对成熟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30368" y="4663440"/>
            <a:ext cx="1792224" cy="155448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8" y="4709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6B93"/>
                </a:solidFill>
                <a:latin typeface="Microsoft YaHei"/>
              </a:defRPr>
            </a:pPr>
            <a:r>
              <a:t>过期产儿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5074920"/>
            <a:ext cx="16093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D3D3D"/>
                </a:solidFill>
                <a:latin typeface="Microsoft YaHei"/>
              </a:defRPr>
            </a:pPr>
            <a:r>
              <a:t>胎龄&gt;42周</a:t>
            </a:r>
            <a:br/>
            <a:r>
              <a:t>可能存在胎盘老化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5472" y="4663440"/>
            <a:ext cx="1792224" cy="15544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4709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6B93"/>
                </a:solidFill>
                <a:latin typeface="Microsoft YaHei"/>
              </a:defRPr>
            </a:pPr>
            <a:r>
              <a:t>低体重儿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5074920"/>
            <a:ext cx="16093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D3D3D"/>
                </a:solidFill>
                <a:latin typeface="Microsoft YaHei"/>
              </a:defRPr>
            </a:pPr>
            <a:r>
              <a:t>出生体重&lt;2500g</a:t>
            </a:r>
            <a:br/>
            <a:r>
              <a:t>需加强喂养管理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0576" y="4663440"/>
            <a:ext cx="1792224" cy="155448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72016" y="4709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6B93"/>
                </a:solidFill>
                <a:latin typeface="Microsoft YaHei"/>
              </a:defRPr>
            </a:pPr>
            <a:r>
              <a:t>巨大儿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5074920"/>
            <a:ext cx="16093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D3D3D"/>
                </a:solidFill>
                <a:latin typeface="Microsoft YaHei"/>
              </a:defRPr>
            </a:pPr>
            <a:r>
              <a:t>出生体重≥4000g</a:t>
            </a:r>
            <a:br/>
            <a:r>
              <a:t>需监测血糖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A7CA5"/>
                </a:solidFill>
                <a:latin typeface="Microsoft YaHei"/>
              </a:defRPr>
            </a:pPr>
            <a:r>
              <a:t>🏥 新生儿科病房介绍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486400" cy="49377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7CA5"/>
                </a:solidFill>
                <a:latin typeface="Microsoft YaHei"/>
              </a:defRPr>
            </a:pPr>
            <a:r>
              <a:t>🌡️ 病房环境要求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🌡 温度：室温保持 22～28°C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   早产儿病房 24～28°C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💧 湿度：相对湿度 50%～60%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💡 照明：柔和灯光，避免强光直射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🔇 噪声：控制在 45 分贝以下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🌬 空气：配备 HEPA 高效过滤器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   每日通风 2～3 次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🧹 清洁：每日全面消毒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   湿式清扫，垃圾日产日清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🚪 出入：严格管控人员进出</a:t>
            </a:r>
          </a:p>
          <a:p>
            <a:pPr>
              <a:spcAft>
                <a:spcPts val="560"/>
              </a:spcAft>
              <a:defRPr sz="1400">
                <a:solidFill>
                  <a:srgbClr val="3D3D3D"/>
                </a:solidFill>
                <a:latin typeface="Microsoft YaHei"/>
              </a:defRPr>
            </a:pPr>
            <a:r>
              <a:t>      探视人员需更换隔离衣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7CA5"/>
                </a:solidFill>
                <a:latin typeface="Microsoft YaHei"/>
              </a:defRPr>
            </a:pPr>
            <a:r>
              <a:t>⚙️ 主要医疗设备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176272"/>
            <a:ext cx="182880" cy="182880"/>
          </a:xfrm>
          <a:prstGeom prst="ellipse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婴儿暖箱 / 辐射保温台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50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YaHei"/>
              </a:defRPr>
            </a:pPr>
            <a:r>
              <a:t>维持新生儿体温恒定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770632"/>
            <a:ext cx="182880" cy="182880"/>
          </a:xfrm>
          <a:prstGeom prst="ellipse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蓝光治疗仪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YaHei"/>
              </a:defRPr>
            </a:pPr>
            <a:r>
              <a:t>治疗新生儿黄疸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364992"/>
            <a:ext cx="182880" cy="182880"/>
          </a:xfrm>
          <a:prstGeom prst="ellipse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273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新生儿专用监护仪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38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YaHei"/>
              </a:defRPr>
            </a:pPr>
            <a:r>
              <a:t>监测心率、呼吸、血氧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959352"/>
            <a:ext cx="182880" cy="182880"/>
          </a:xfrm>
          <a:prstGeom prst="ellipse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867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呼吸支持设备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33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YaHei"/>
              </a:defRPr>
            </a:pPr>
            <a:r>
              <a:t>无创/有创呼吸机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553712"/>
            <a:ext cx="182880" cy="182880"/>
          </a:xfrm>
          <a:prstGeom prst="ellipse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输液泵 / 注射泵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27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YaHei"/>
              </a:defRPr>
            </a:pPr>
            <a:r>
              <a:t>精确药物输注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5148072"/>
            <a:ext cx="182880" cy="182880"/>
          </a:xfrm>
          <a:prstGeom prst="ellipse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5056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新生儿复苏器材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321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YaHei"/>
              </a:defRPr>
            </a:pPr>
            <a:r>
              <a:t>头罩、气管插管等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5742432"/>
            <a:ext cx="182880" cy="182880"/>
          </a:xfrm>
          <a:prstGeom prst="ellipse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650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血气分析仪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916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YaHei"/>
              </a:defRPr>
            </a:pPr>
            <a:r>
              <a:t>快速血液检测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B8860B"/>
                </a:solidFill>
                <a:latin typeface="Microsoft YaHei"/>
              </a:defRPr>
            </a:pPr>
            <a:r>
              <a:t>🎯 新生儿患者十大安全目标（上）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YaHei"/>
              </a:defRPr>
            </a:pPr>
            <a:r>
              <a:t>——  依据中国医院协会《患者安全目标（2025版）》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148840" cy="4937760"/>
          </a:xfrm>
          <a:prstGeom prst="roundRect">
            <a:avLst/>
          </a:prstGeom>
          <a:solidFill>
            <a:srgbClr val="FFE4EC"/>
          </a:solidFill>
          <a:ln w="12700">
            <a:solidFill>
              <a:srgbClr val="E86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1508760"/>
            <a:ext cx="548640" cy="548640"/>
          </a:xfrm>
          <a:prstGeom prst="ellipse">
            <a:avLst/>
          </a:prstGeom>
          <a:solidFill>
            <a:srgbClr val="E8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B93"/>
                </a:solidFill>
                <a:latin typeface="Microsoft YaHei"/>
              </a:defRPr>
            </a:pPr>
            <a:r>
              <a:t>正确识别患者身份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严格执行新生儿腕带佩戴制度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至少使用两种身份识别方式（如姓名+住院号）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每次护理操作前核对患儿身份信息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杜绝错抱、错认等不良事件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1371600"/>
            <a:ext cx="2148840" cy="49377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29000" y="1508760"/>
            <a:ext cx="548640" cy="548640"/>
          </a:xfrm>
          <a:prstGeom prst="ellipse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148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A7CA5"/>
                </a:solidFill>
                <a:latin typeface="Microsoft YaHei"/>
              </a:defRPr>
            </a:pPr>
            <a:r>
              <a:t>确保用药与用血安全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7432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严格执行"三查八对"制度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52044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新生儿用药剂量精确计算（按体重）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297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高危药品专柜存放、双人核对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0749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输血前反复核对血型及交叉配血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1371600"/>
            <a:ext cx="2148840" cy="4937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15000" y="150876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148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8860B"/>
                </a:solidFill>
                <a:latin typeface="Microsoft YaHei"/>
              </a:defRPr>
            </a:pPr>
            <a:r>
              <a:t>强化围手术期安全管理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7432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术前充分评估新生儿耐受能力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52044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手术安全核查（患儿、部位、术式）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297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术中严格体温管理与液体管理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50749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术后密切监测生命体征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1371600"/>
            <a:ext cx="2148840" cy="493776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28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01000" y="1508760"/>
            <a:ext cx="548640" cy="548640"/>
          </a:xfrm>
          <a:prstGeom prst="ellipse">
            <a:avLst/>
          </a:prstGeom>
          <a:solidFill>
            <a:srgbClr val="28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148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7A3C"/>
                </a:solidFill>
                <a:latin typeface="Microsoft YaHei"/>
              </a:defRPr>
            </a:pPr>
            <a:r>
              <a:t>加强有效沟通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7432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规范交接班流程（SBAR沟通模式）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52044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危重患儿床旁交接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297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与家属沟通病情使用通俗语言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50749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建立家属沟通记录制度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1371600"/>
            <a:ext cx="2148840" cy="4937760"/>
          </a:xfrm>
          <a:prstGeom prst="roundRect">
            <a:avLst/>
          </a:prstGeom>
          <a:solidFill>
            <a:srgbClr val="E8DAEF"/>
          </a:solidFill>
          <a:ln w="12700">
            <a:solidFill>
              <a:srgbClr val="6C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87000" y="1508760"/>
            <a:ext cx="548640" cy="548640"/>
          </a:xfrm>
          <a:prstGeom prst="ellipse">
            <a:avLst/>
          </a:prstGeom>
          <a:solidFill>
            <a:srgbClr val="6C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148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3A8F"/>
                </a:solidFill>
                <a:latin typeface="Microsoft YaHei"/>
              </a:defRPr>
            </a:pPr>
            <a:r>
              <a:t>落实临床"危急值"管理制度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27432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建立新生儿危急值项目及范围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52044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危急值报告15分钟内完成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4297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接报后立即处理并记录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50749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定期评估危急值项目适宜性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B8860B"/>
                </a:solidFill>
                <a:latin typeface="Microsoft YaHei"/>
              </a:defRPr>
            </a:pPr>
            <a:r>
              <a:t>🎯 新生儿患者十大安全目标（下）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YaHei"/>
              </a:defRPr>
            </a:pPr>
            <a:r>
              <a:t>——  依据中国医院协会《患者安全目标（2025版）》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148840" cy="4937760"/>
          </a:xfrm>
          <a:prstGeom prst="roundRect">
            <a:avLst/>
          </a:prstGeom>
          <a:solidFill>
            <a:srgbClr val="FFE4EC"/>
          </a:solidFill>
          <a:ln w="12700">
            <a:solidFill>
              <a:srgbClr val="E86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1508760"/>
            <a:ext cx="548640" cy="548640"/>
          </a:xfrm>
          <a:prstGeom prst="ellipse">
            <a:avLst/>
          </a:prstGeom>
          <a:solidFill>
            <a:srgbClr val="E8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B93"/>
                </a:solidFill>
                <a:latin typeface="Microsoft YaHei"/>
              </a:defRPr>
            </a:pPr>
            <a:r>
              <a:t>预防和减少</a:t>
            </a:r>
            <a:br/>
            <a:r>
              <a:t>医院相关性感染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严格执行手卫生规范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033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仪器设备每日消毒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6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一次性物品不重复使用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578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定期环境微生物监测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1371600"/>
            <a:ext cx="2148840" cy="49377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29000" y="1508760"/>
            <a:ext cx="548640" cy="548640"/>
          </a:xfrm>
          <a:prstGeom prst="ellipse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14884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A7CA5"/>
                </a:solidFill>
                <a:latin typeface="Microsoft YaHei"/>
              </a:defRPr>
            </a:pPr>
            <a:r>
              <a:t>加强孕产妇</a:t>
            </a:r>
            <a:br/>
            <a:r>
              <a:t>及新生儿安全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9260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落实母婴安全五项制度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7033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强化新生儿出入管理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48056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严格交接流程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2578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完善危重救治协调机制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1371600"/>
            <a:ext cx="2148840" cy="4937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15000" y="150876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14884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60B"/>
                </a:solidFill>
                <a:latin typeface="Microsoft YaHei"/>
              </a:defRPr>
            </a:pPr>
            <a:r>
              <a:t>鼓励患者及家属</a:t>
            </a:r>
            <a:br/>
            <a:r>
              <a:t>参与安全维护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9260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向家长开展安全宣教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7033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鼓励家长参与护理决策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48056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建立意见反馈渠道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52578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开展满意度调查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1371600"/>
            <a:ext cx="2148840" cy="493776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28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01000" y="1508760"/>
            <a:ext cx="548640" cy="548640"/>
          </a:xfrm>
          <a:prstGeom prst="ellipse">
            <a:avLst/>
          </a:prstGeom>
          <a:solidFill>
            <a:srgbClr val="28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14884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7A3C"/>
                </a:solidFill>
                <a:latin typeface="Microsoft YaHei"/>
              </a:defRPr>
            </a:pPr>
            <a:r>
              <a:t>识别患者</a:t>
            </a:r>
            <a:br/>
            <a:r>
              <a:t>安全风险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9260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入院时全面安全评估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7033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使用风险评估工具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48056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建立预警和应急机制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52578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高危新生儿重点监护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1371600"/>
            <a:ext cx="2148840" cy="4937760"/>
          </a:xfrm>
          <a:prstGeom prst="roundRect">
            <a:avLst/>
          </a:prstGeom>
          <a:solidFill>
            <a:srgbClr val="E8DAEF"/>
          </a:solidFill>
          <a:ln w="12700">
            <a:solidFill>
              <a:srgbClr val="6C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87000" y="1508760"/>
            <a:ext cx="548640" cy="548640"/>
          </a:xfrm>
          <a:prstGeom prst="ellipse">
            <a:avLst/>
          </a:prstGeom>
          <a:solidFill>
            <a:srgbClr val="6C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1536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14884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3A8F"/>
                </a:solidFill>
                <a:latin typeface="Microsoft YaHei"/>
              </a:defRPr>
            </a:pPr>
            <a:r>
              <a:t>加强医学装备</a:t>
            </a:r>
            <a:br/>
            <a:r>
              <a:t>及信息安全管理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29260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设备定期维护校准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7033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信息系统安全防护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448056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数据备份和恢复机制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52578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• 隐私信息保密管理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6B93"/>
                </a:solidFill>
                <a:latin typeface="Microsoft YaHei"/>
              </a:defRPr>
            </a:pPr>
            <a:r>
              <a:t>🍼 新生儿日常护理安全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148840" cy="4754880"/>
          </a:xfrm>
          <a:prstGeom prst="roundRect">
            <a:avLst/>
          </a:prstGeom>
          <a:solidFill>
            <a:srgbClr val="FFE4EC"/>
          </a:solidFill>
          <a:ln w="12700">
            <a:solidFill>
              <a:srgbClr val="E86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6B93"/>
                </a:solidFill>
                <a:latin typeface="Microsoft YaHei"/>
              </a:defRPr>
            </a:pPr>
            <a:r>
              <a:t>🤱 母乳喂养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按需哺乳，每次15-20分钟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正确含接姿势，避免乳头损伤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喂后竖抱拍嗝，防止吐奶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人工喂养需严格奶具消毒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1463040"/>
            <a:ext cx="2148840" cy="475488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600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7CA5"/>
                </a:solidFill>
                <a:latin typeface="Microsoft YaHei"/>
              </a:defRPr>
            </a:pPr>
            <a:r>
              <a:t>🌡 保暖护理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19456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维持体温36.5～37.5°C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83464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注意"四保暖"：头、手、足、腹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4747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衣物纯棉柔软、宽松适度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114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避免包裹过紧影响呼吸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1463040"/>
            <a:ext cx="2148840" cy="475488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600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860B"/>
                </a:solidFill>
                <a:latin typeface="Microsoft YaHei"/>
              </a:defRPr>
            </a:pPr>
            <a:r>
              <a:t>🩹 脐带护理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19456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保持脐部清洁干燥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83464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每日用碘伏或酒精消毒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4747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脐带未脱落前避免沾水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114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如有红肿渗液及时就医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1463040"/>
            <a:ext cx="2148840" cy="475488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28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600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7A3C"/>
                </a:solidFill>
                <a:latin typeface="Microsoft YaHei"/>
              </a:defRPr>
            </a:pPr>
            <a:r>
              <a:t>🛁 皮肤护理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19456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沐浴水温37～40°C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83464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使用婴儿专用洗护用品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4747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及时更换尿布防尿布疹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114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皮肤皱褶处保持干燥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1463040"/>
            <a:ext cx="2148840" cy="4754880"/>
          </a:xfrm>
          <a:prstGeom prst="roundRect">
            <a:avLst/>
          </a:prstGeom>
          <a:solidFill>
            <a:srgbClr val="E8DAEF"/>
          </a:solidFill>
          <a:ln w="12700">
            <a:solidFill>
              <a:srgbClr val="6C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1600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3A8F"/>
                </a:solidFill>
                <a:latin typeface="Microsoft YaHei"/>
              </a:defRPr>
            </a:pPr>
            <a:r>
              <a:t>👁 病情观察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219456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观察精神状态与反应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83464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注意皮肤颜色（黄疸）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4747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监测体温、呼吸、心率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114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3D3D"/>
                </a:solidFill>
                <a:latin typeface="Microsoft YaHei"/>
              </a:defRPr>
            </a:pPr>
            <a:r>
              <a:t>✦ 大小便次数及性状记录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6B93"/>
                </a:solidFill>
                <a:latin typeface="Microsoft YaHei"/>
              </a:defRPr>
            </a:pPr>
            <a:r>
              <a:t>🛡️ 安全防护要点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566160" cy="4846320"/>
          </a:xfrm>
          <a:prstGeom prst="roundRect">
            <a:avLst/>
          </a:prstGeom>
          <a:solidFill>
            <a:srgbClr val="FFE4EC"/>
          </a:solidFill>
          <a:ln w="19050">
            <a:solidFill>
              <a:srgbClr val="E86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B93"/>
                </a:solidFill>
                <a:latin typeface="Microsoft YaHei"/>
              </a:defRPr>
            </a:pPr>
            <a:r>
              <a:t>🔐 身份识别管理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48840"/>
            <a:ext cx="2651760" cy="19050"/>
          </a:xfrm>
          <a:prstGeom prst="rect">
            <a:avLst/>
          </a:prstGeom>
          <a:solidFill>
            <a:srgbClr val="E8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出生后立即佩戴母婴配对腕带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腕带信息包含：姓名、性别、住院号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每日检查腕带完整性与清晰度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破损或松脱及时更换并核对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每次操作前"双人核对"身份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严禁未核对身份进行任何操作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63040"/>
            <a:ext cx="3566160" cy="48463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7CA5"/>
                </a:solidFill>
                <a:latin typeface="Microsoft YaHei"/>
              </a:defRPr>
            </a:pPr>
            <a:r>
              <a:t>⚠️ 防跌落管理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148840"/>
            <a:ext cx="2651760" cy="1905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婴儿床护栏必须升起并锁好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操作时一手始终扶稳宝宝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566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转运使用专用新生儿推车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60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途中不得让新生儿无人看管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不要将宝宝放置在无栏高处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49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加强对家属的跌落风险宣教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463040"/>
            <a:ext cx="3566160" cy="4846320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860B"/>
                </a:solidFill>
                <a:latin typeface="Microsoft YaHei"/>
              </a:defRPr>
            </a:pPr>
            <a:r>
              <a:t>🔥 防烫伤管理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148840"/>
            <a:ext cx="2651760" cy="190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沐浴水温先用温度计测量（37-40°C）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禁止使用热水袋、电热毯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66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必须使用时加多层保护隔离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60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热饮/暖水瓶远离新生儿床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54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暖箱温度定期监测调节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349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Microsoft YaHei"/>
              </a:defRPr>
            </a:pPr>
            <a:r>
              <a:t>• 任何热源不得直接接触皮肤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87A3C"/>
                </a:solidFill>
                <a:latin typeface="Microsoft YaHei"/>
              </a:defRPr>
            </a:pPr>
            <a:r>
              <a:t>🫁 预防窒息与感染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28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7A3C"/>
                </a:solidFill>
                <a:latin typeface="Microsoft YaHei"/>
              </a:defRPr>
            </a:pPr>
            <a:r>
              <a:t>🫁 预防窒息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喂奶后竖抱轻拍背部，帮助排气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喂奶时不可仰卧位，防止呛奶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安睡采取仰卧位，避免俯卧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床上不放置毛绒玩具、枕头等物品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不剧烈摇晃婴儿（防摇晃综合征）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密切观察呼吸频率和节律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发现呼吸暂停立即刺激足底并报告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备好吸痰器和复苏器材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5486400" cy="4846320"/>
          </a:xfrm>
          <a:prstGeom prst="roundRect">
            <a:avLst/>
          </a:prstGeom>
          <a:solidFill>
            <a:srgbClr val="E8DAEF"/>
          </a:solidFill>
          <a:ln w="19050">
            <a:solidFill>
              <a:srgbClr val="6C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3A8F"/>
                </a:solidFill>
                <a:latin typeface="Microsoft YaHei"/>
              </a:defRPr>
            </a:pPr>
            <a:r>
              <a:t>🦠 预防感染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接触新生儿前后必须洗手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掌握"七步洗手法"，每次≥15秒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护理用品专人专用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脐带护理保持清洁干燥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母亲患感染性疾病时暂停母乳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病房定期通风消毒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限制探视人数和频次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715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✅ 新生儿衣物单独清洗消毒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6217920"/>
            <a:ext cx="640080" cy="64008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A7CA5"/>
                </a:solidFill>
                <a:latin typeface="Microsoft YaHei"/>
              </a:defRPr>
            </a:pPr>
            <a:r>
              <a:t>💉 疾病筛查与预防接种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7CA5"/>
                </a:solidFill>
                <a:latin typeface="Microsoft YaHei"/>
              </a:defRPr>
            </a:pPr>
            <a:r>
              <a:t>🔬 新生儿疾病筛查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出生后72小时采集足跟血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筛查项目：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  · 先天性甲状腺功能减低症（CH）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  · 苯丙酮尿症（PKU）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  · 先天性肾上腺皮质增生症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  · 葡萄糖-6-磷酸脱氢酶缺乏症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听力筛查：出生后48小时内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心脏筛查：脉搏血氧饱和度监测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5486400" cy="4846320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8860B"/>
                </a:solidFill>
                <a:latin typeface="Microsoft YaHei"/>
              </a:defRPr>
            </a:pPr>
            <a:r>
              <a:t>💉 预防接种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出生24小时内：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51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     · 乙肝疫苗第一针 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     · 卡介苗接种 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📌 接种注意事项：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     · 确认新生儿无禁忌症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37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     · 接种后观察30分钟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94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     · 如有异常反应及时报告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852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Microsoft YaHei"/>
              </a:defRPr>
            </a:pPr>
            <a:r>
              <a:t>     · 保管好预防接种证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1828800" cy="182880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6B93"/>
                </a:solidFill>
                <a:latin typeface="Microsoft YaHei"/>
              </a:defRPr>
            </a:pPr>
            <a:r>
              <a:t>💕 总结与温馨提示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183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正确识别身份，严格执行腕带管理制度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保持手卫生，预防医院感染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科学喂养，注意防呛奶窒息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做好保暖护理，维持体温稳定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规范脐带护理，预防感染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安全睡眠，仰卧为主，床上不放杂物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按时完成疾病筛查和预防接种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074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🌟  密切观察病情变化，异常及时就医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486400"/>
            <a:ext cx="5760720" cy="50292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5532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6B93"/>
                </a:solidFill>
                <a:latin typeface="Microsoft YaHei"/>
              </a:defRPr>
            </a:pPr>
            <a:r>
              <a:t>每一个新生命都值得被温柔以待 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6B6B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914400"/>
            <a:ext cx="2286000" cy="228600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-457200"/>
            <a:ext cx="1371600" cy="1371600"/>
          </a:xfrm>
          <a:prstGeom prst="ellipse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645920"/>
            <a:ext cx="66751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6B93"/>
                </a:solidFill>
                <a:latin typeface="Microsoft YaHei"/>
              </a:defRPr>
            </a:pPr>
            <a:r>
              <a:t>感谢聆听 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175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A7CA5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2103120" cy="25400"/>
          </a:xfrm>
          <a:prstGeom prst="rect">
            <a:avLst/>
          </a:prstGeom>
          <a:solidFill>
            <a:srgbClr val="F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9319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Microsoft YaHei"/>
              </a:defRPr>
            </a:pPr>
            <a:r>
              <a:t>新生儿科  ·  护理安全科普宣教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89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B4C8"/>
                </a:solidFill>
                <a:latin typeface="Microsoft YaHei"/>
              </a:defRPr>
            </a:pPr>
            <a:r>
              <a:t>呵护新生  守护未来 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